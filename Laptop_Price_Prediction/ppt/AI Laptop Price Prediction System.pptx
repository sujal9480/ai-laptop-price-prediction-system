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766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Random Forest</c:v>
                  </c:pt>
                  <c:pt idx="1">
                    <c:v>Extra Trees</c:v>
                  </c:pt>
                  <c:pt idx="2">
                    <c:v>Linear Regression</c:v>
                  </c:pt>
                  <c:pt idx="3">
                    <c:v>Decision Tree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0.833</c:v>
                </c:pt>
                <c:pt idx="1">
                  <c:v>0.799</c:v>
                </c:pt>
                <c:pt idx="2">
                  <c:v>0.798</c:v>
                </c:pt>
                <c:pt idx="3">
                  <c:v>0.632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334E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image" Target="../media/image-7-5.png"/><Relationship Id="rId7" Type="http://schemas.openxmlformats.org/officeDocument/2006/relationships/image" Target="../media/image-7-6.sv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A">
              <a:alpha val="28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0" y="4743450"/>
            <a:ext cx="9144000" cy="400050"/>
          </a:xfrm>
          <a:prstGeom prst="rect">
            <a:avLst/>
          </a:prstGeom>
          <a:solidFill>
            <a:srgbClr val="0B1F3A">
              <a:alpha val="92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3281363" y="1416247"/>
            <a:ext cx="2581275" cy="271463"/>
          </a:xfrm>
          <a:prstGeom prst="roundRect">
            <a:avLst>
              <a:gd name="adj" fmla="val 421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85725" dir="5400000">
              <a:srgbClr val="0B1F3A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385245" y="1523405"/>
            <a:ext cx="57150" cy="5715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9" name="Text 6"/>
          <p:cNvSpPr/>
          <p:nvPr/>
        </p:nvSpPr>
        <p:spPr>
          <a:xfrm>
            <a:off x="3500438" y="1482922"/>
            <a:ext cx="2257425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&amp; MACHINE LEARNING PROJECT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940718" y="1850199"/>
            <a:ext cx="5262563" cy="3476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54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Laptop Price Prediction System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1952625" y="2323204"/>
            <a:ext cx="5238750" cy="4619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3"/>
              </a:lnSpc>
              <a:spcBef>
                <a:spcPts val="975"/>
              </a:spcBef>
              <a:buNone/>
            </a:pPr>
            <a:r>
              <a:rPr lang="en-US" sz="1300" dirty="0">
                <a:solidFill>
                  <a:srgbClr val="EA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 with Python and Streamlit, powered by a Random Forest Regressor.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518111" y="2995670"/>
            <a:ext cx="1000125" cy="300038"/>
          </a:xfrm>
          <a:prstGeom prst="roundRect">
            <a:avLst>
              <a:gd name="adj" fmla="val 21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1450" dist="76200" dir="5400000">
              <a:srgbClr val="0B1F3A">
                <a:alpha val="1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601" y="3088542"/>
            <a:ext cx="114300" cy="1143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94319" y="3071870"/>
            <a:ext cx="419100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603961" y="2995670"/>
            <a:ext cx="1000125" cy="300038"/>
          </a:xfrm>
          <a:prstGeom prst="roundRect">
            <a:avLst>
              <a:gd name="adj" fmla="val 21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1450" dist="76200" dir="5400000">
              <a:srgbClr val="0B1F3A">
                <a:alpha val="1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3324" y="3088542"/>
            <a:ext cx="114300" cy="1143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925399" y="3071870"/>
            <a:ext cx="528638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Streamlit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4688680" y="2995670"/>
            <a:ext cx="1938337" cy="300038"/>
          </a:xfrm>
          <a:prstGeom prst="roundRect">
            <a:avLst>
              <a:gd name="adj" fmla="val 21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1450" dist="76200" dir="5400000">
              <a:srgbClr val="0B1F3A">
                <a:alpha val="10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4586" y="3088542"/>
            <a:ext cx="114300" cy="1143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964905" y="3071870"/>
            <a:ext cx="1557338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Random Forest Regressor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940718" y="3554312"/>
            <a:ext cx="5262563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2025"/>
              </a:spcBef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Submitted by: Sujal Patel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572661" y="4881562"/>
            <a:ext cx="2062162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00" b="1" dirty="0">
                <a:solidFill>
                  <a:srgbClr val="EA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Professional • Academic • Trustworthy</a:t>
            </a:r>
            <a:endParaRPr lang="en-US" sz="8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9725" y="4891088"/>
            <a:ext cx="104775" cy="10477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011262" y="4881562"/>
            <a:ext cx="1562100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Data-driven pricing intelligence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24816"/>
            <a:ext cx="76200" cy="76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6" name="Text 3"/>
          <p:cNvSpPr/>
          <p:nvPr/>
        </p:nvSpPr>
        <p:spPr>
          <a:xfrm>
            <a:off x="599123" y="401002"/>
            <a:ext cx="1862137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900" b="1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PRESENTATION OVERVIEW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611205"/>
            <a:ext cx="5619750" cy="7000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4"/>
              </a:lnSpc>
              <a:buNone/>
            </a:pPr>
            <a:r>
              <a:rPr lang="en-US" sz="27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laptop pricing signals to a working prediction app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457200" y="1396719"/>
            <a:ext cx="5238750" cy="3810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guided path through the dataset, modeling choices, results, and the Streamlit experience.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082192"/>
            <a:ext cx="4019550" cy="1104900"/>
          </a:xfrm>
          <a:prstGeom prst="roundRect">
            <a:avLst>
              <a:gd name="adj" fmla="val 114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85725" dir="5400000">
              <a:srgbClr val="0B1F3A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8772" y="2273019"/>
            <a:ext cx="252412" cy="238125"/>
          </a:xfrm>
          <a:prstGeom prst="roundRect">
            <a:avLst>
              <a:gd name="adj" fmla="val 48000"/>
            </a:avLst>
          </a:prstGeom>
          <a:solidFill>
            <a:srgbClr val="EAF4FF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647819" y="2615622"/>
            <a:ext cx="1190625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8"/>
              </a:lnSpc>
              <a:spcBef>
                <a:spcPts val="825"/>
              </a:spcBef>
              <a:buNone/>
            </a:pPr>
            <a:r>
              <a:rPr lang="en-US" sz="13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 setup</a:t>
            </a:r>
            <a:endParaRPr lang="en-US" sz="13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850" y="2273019"/>
            <a:ext cx="152400" cy="1524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7700" y="2914409"/>
            <a:ext cx="2476500" cy="3619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spcBef>
                <a:spcPts val="900"/>
              </a:spcBef>
              <a:buNone/>
            </a:pPr>
            <a:r>
              <a:rPr lang="en-US" sz="10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Laptop pricing factors and the prediction goal.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667250" y="2082192"/>
            <a:ext cx="4019550" cy="1104900"/>
          </a:xfrm>
          <a:prstGeom prst="roundRect">
            <a:avLst>
              <a:gd name="adj" fmla="val 114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85725" dir="5400000">
              <a:srgbClr val="0B1F3A">
                <a:alpha val="8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4858822" y="2273019"/>
            <a:ext cx="252412" cy="238125"/>
          </a:xfrm>
          <a:prstGeom prst="roundRect">
            <a:avLst>
              <a:gd name="adj" fmla="val 48000"/>
            </a:avLst>
          </a:prstGeom>
          <a:solidFill>
            <a:srgbClr val="EAF4FF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700" dirty="0"/>
          </a:p>
        </p:txBody>
      </p:sp>
      <p:sp>
        <p:nvSpPr>
          <p:cNvPr id="16" name="Text 12"/>
          <p:cNvSpPr/>
          <p:nvPr/>
        </p:nvSpPr>
        <p:spPr>
          <a:xfrm>
            <a:off x="4857690" y="2615622"/>
            <a:ext cx="1304925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8"/>
              </a:lnSpc>
              <a:spcBef>
                <a:spcPts val="825"/>
              </a:spcBef>
              <a:buNone/>
            </a:pPr>
            <a:r>
              <a:rPr lang="en-US" sz="13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foundation</a:t>
            </a:r>
            <a:endParaRPr lang="en-US" sz="13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3900" y="2273019"/>
            <a:ext cx="152400" cy="1524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857750" y="2914409"/>
            <a:ext cx="2476500" cy="3619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spcBef>
                <a:spcPts val="900"/>
              </a:spcBef>
              <a:buNone/>
            </a:pPr>
            <a:r>
              <a:rPr lang="en-US" sz="10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Dataset, preprocessing, and feature engineering decisions.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57200" y="3376941"/>
            <a:ext cx="4019550" cy="1104900"/>
          </a:xfrm>
          <a:prstGeom prst="roundRect">
            <a:avLst>
              <a:gd name="adj" fmla="val 114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85725" dir="5400000">
              <a:srgbClr val="0B1F3A">
                <a:alpha val="8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648772" y="3567766"/>
            <a:ext cx="252412" cy="238125"/>
          </a:xfrm>
          <a:prstGeom prst="roundRect">
            <a:avLst>
              <a:gd name="adj" fmla="val 48000"/>
            </a:avLst>
          </a:prstGeom>
          <a:solidFill>
            <a:srgbClr val="EAF4FF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700" dirty="0"/>
          </a:p>
        </p:txBody>
      </p:sp>
      <p:sp>
        <p:nvSpPr>
          <p:cNvPr id="21" name="Text 16"/>
          <p:cNvSpPr/>
          <p:nvPr/>
        </p:nvSpPr>
        <p:spPr>
          <a:xfrm>
            <a:off x="647789" y="3910368"/>
            <a:ext cx="1362075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8"/>
              </a:lnSpc>
              <a:spcBef>
                <a:spcPts val="825"/>
              </a:spcBef>
              <a:buNone/>
            </a:pPr>
            <a:r>
              <a:rPr lang="en-US" sz="13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Modeling results</a:t>
            </a:r>
            <a:endParaRPr lang="en-US" sz="13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3850" y="3567766"/>
            <a:ext cx="152400" cy="1524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47700" y="4209156"/>
            <a:ext cx="2476500" cy="3619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spcBef>
                <a:spcPts val="900"/>
              </a:spcBef>
              <a:buNone/>
            </a:pPr>
            <a:r>
              <a:rPr lang="en-US" sz="10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training, evaluation, and the best result.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667250" y="3376941"/>
            <a:ext cx="4019550" cy="1104900"/>
          </a:xfrm>
          <a:prstGeom prst="roundRect">
            <a:avLst>
              <a:gd name="adj" fmla="val 11415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90500" dist="85725" dir="5400000">
              <a:srgbClr val="0B1F3A">
                <a:alpha val="18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4858822" y="3567766"/>
            <a:ext cx="252412" cy="238125"/>
          </a:xfrm>
          <a:prstGeom prst="roundRect">
            <a:avLst>
              <a:gd name="adj" fmla="val 48000"/>
            </a:avLst>
          </a:prstGeom>
          <a:solidFill>
            <a:srgbClr val="14B8A6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700" dirty="0"/>
          </a:p>
        </p:txBody>
      </p:sp>
      <p:sp>
        <p:nvSpPr>
          <p:cNvPr id="26" name="Text 20"/>
          <p:cNvSpPr/>
          <p:nvPr/>
        </p:nvSpPr>
        <p:spPr>
          <a:xfrm>
            <a:off x="4857929" y="3910368"/>
            <a:ext cx="2181225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8"/>
              </a:lnSpc>
              <a:spcBef>
                <a:spcPts val="825"/>
              </a:spcBef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Application and next steps</a:t>
            </a:r>
            <a:endParaRPr lang="en-US" sz="13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3900" y="3567766"/>
            <a:ext cx="152400" cy="1524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857750" y="4209156"/>
            <a:ext cx="2476500" cy="3619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spcBef>
                <a:spcPts val="900"/>
              </a:spcBef>
              <a:buNone/>
            </a:pPr>
            <a:r>
              <a:rPr lang="en-US" sz="1000" dirty="0">
                <a:solidFill>
                  <a:srgbClr val="D9E8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Streamlit application, outcomes, and future scope.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457706" y="4641056"/>
            <a:ext cx="2000250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Four steps, one story: from data to deployment.</a:t>
            </a:r>
            <a:endParaRPr lang="en-US" sz="700" dirty="0"/>
          </a:p>
        </p:txBody>
      </p:sp>
      <p:sp>
        <p:nvSpPr>
          <p:cNvPr id="30" name="Shape 23"/>
          <p:cNvSpPr/>
          <p:nvPr/>
        </p:nvSpPr>
        <p:spPr>
          <a:xfrm>
            <a:off x="7616726" y="4669631"/>
            <a:ext cx="57150" cy="5715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1" name="Text 24"/>
          <p:cNvSpPr/>
          <p:nvPr/>
        </p:nvSpPr>
        <p:spPr>
          <a:xfrm>
            <a:off x="7721501" y="4649151"/>
            <a:ext cx="9652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13"/>
              </a:lnSpc>
              <a:buNone/>
            </a:pPr>
            <a:r>
              <a:rPr lang="en-US" sz="6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ML project walkthrough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F"/>
          </a:solidFill>
          <a:ln/>
        </p:spPr>
      </p:sp>
      <p:sp>
        <p:nvSpPr>
          <p:cNvPr id="4" name="Text 2"/>
          <p:cNvSpPr/>
          <p:nvPr/>
        </p:nvSpPr>
        <p:spPr>
          <a:xfrm>
            <a:off x="400050" y="343852"/>
            <a:ext cx="5143500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spcAft>
                <a:spcPts val="525"/>
              </a:spcAft>
              <a:buNone/>
            </a:pPr>
            <a:r>
              <a:rPr lang="en-US" sz="900" b="1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00050" y="534590"/>
            <a:ext cx="5143500" cy="6619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1"/>
              </a:lnSpc>
              <a:buNone/>
            </a:pPr>
            <a:r>
              <a:rPr lang="en-US" sz="25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Laptop prices are shaped by specs, features, and trust signals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00050" y="1282542"/>
            <a:ext cx="4667250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Bef>
                <a:spcPts val="675"/>
              </a:spcBef>
              <a:buNone/>
            </a:pPr>
            <a:r>
              <a:rPr lang="en-US" sz="12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model will learn how hardware and purchase factors combine to predict a fair price instantly.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596393" y="342900"/>
            <a:ext cx="1147763" cy="28575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42875" dist="47625" dir="5400000">
              <a:srgbClr val="0B1F3A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01376" y="452438"/>
            <a:ext cx="66675" cy="66675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9" name="Text 7"/>
          <p:cNvSpPr/>
          <p:nvPr/>
        </p:nvSpPr>
        <p:spPr>
          <a:xfrm>
            <a:off x="7834518" y="428625"/>
            <a:ext cx="804862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pricing context</a:t>
            </a:r>
            <a:endParaRPr lang="en-US" sz="7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859" y="2034778"/>
            <a:ext cx="4229100" cy="280511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854178" y="2034778"/>
            <a:ext cx="3890962" cy="2805112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85725" dir="5400000">
              <a:srgbClr val="0B1F3A">
                <a:alpha val="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5869" y="2228850"/>
            <a:ext cx="133350" cy="1333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36577" y="2216944"/>
            <a:ext cx="1190625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drives price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45869" y="2540794"/>
            <a:ext cx="66675" cy="66675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5" name="Text 11"/>
          <p:cNvSpPr/>
          <p:nvPr/>
        </p:nvSpPr>
        <p:spPr>
          <a:xfrm>
            <a:off x="5188803" y="2487216"/>
            <a:ext cx="2938463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100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Laptop prices vary by brand and specifications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045869" y="2838450"/>
            <a:ext cx="66675" cy="66675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7" name="Text 13"/>
          <p:cNvSpPr/>
          <p:nvPr/>
        </p:nvSpPr>
        <p:spPr>
          <a:xfrm>
            <a:off x="5189369" y="2784872"/>
            <a:ext cx="3190875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100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RAM, storage, CPU, and GPU are the core drivers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045869" y="3136106"/>
            <a:ext cx="66675" cy="66675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5"/>
          <p:cNvSpPr/>
          <p:nvPr/>
        </p:nvSpPr>
        <p:spPr>
          <a:xfrm>
            <a:off x="5188119" y="3082528"/>
            <a:ext cx="3143250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100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Display, OS, and warranty also shift the final price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044678" y="4229575"/>
            <a:ext cx="3509963" cy="428625"/>
          </a:xfrm>
          <a:prstGeom prst="roundRect">
            <a:avLst>
              <a:gd name="adj" fmla="val 14222"/>
            </a:avLst>
          </a:prstGeom>
          <a:solidFill>
            <a:srgbClr val="F8FBFF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9694" y="4363401"/>
            <a:ext cx="123825" cy="12382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369868" y="4353400"/>
            <a:ext cx="2395538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Goal: predict prices instantly using AI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Text 3"/>
          <p:cNvSpPr/>
          <p:nvPr/>
        </p:nvSpPr>
        <p:spPr>
          <a:xfrm>
            <a:off x="400050" y="343852"/>
            <a:ext cx="8343900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900" b="1" dirty="0">
                <a:solidFill>
                  <a:srgbClr val="0F76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 STATEMENT AND OBJECTIVES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00050" y="544115"/>
            <a:ext cx="7143750" cy="6619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1"/>
              </a:lnSpc>
              <a:spcBef>
                <a:spcPts val="600"/>
              </a:spcBef>
              <a:buNone/>
            </a:pPr>
            <a:r>
              <a:rPr lang="en-US" sz="25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pricing is hard — the project turns complexity into a usable model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400050" y="1291114"/>
            <a:ext cx="5715000" cy="3810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675"/>
              </a:spcBef>
              <a:buNone/>
            </a:pPr>
            <a:r>
              <a:rPr lang="en-US" sz="12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Compare the user problem on the left with the data and deployment approach on the right.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00050" y="1976200"/>
            <a:ext cx="4067175" cy="2071688"/>
          </a:xfrm>
          <a:prstGeom prst="roundRect">
            <a:avLst>
              <a:gd name="adj" fmla="val 30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85725" dir="5400000">
              <a:srgbClr val="0F172A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0075" y="2223134"/>
            <a:ext cx="66675" cy="66675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733842" y="2168367"/>
            <a:ext cx="1042988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2"/>
              </a:lnSpc>
              <a:buNone/>
            </a:pPr>
            <a:r>
              <a:rPr lang="en-US" sz="1200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problem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0075" y="2488406"/>
            <a:ext cx="114300" cy="114300"/>
          </a:xfrm>
          <a:prstGeom prst="ellipse">
            <a:avLst/>
          </a:prstGeom>
          <a:solidFill>
            <a:srgbClr val="EA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spcBef>
                <a:spcPts val="225"/>
              </a:spcBef>
              <a:buNone/>
            </a:pPr>
            <a:r>
              <a:rPr lang="en-US" sz="6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790962" y="2458879"/>
            <a:ext cx="3019425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Estimating fair laptop prices is difficult manually.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0075" y="2762727"/>
            <a:ext cx="114300" cy="114300"/>
          </a:xfrm>
          <a:prstGeom prst="ellipse">
            <a:avLst/>
          </a:prstGeom>
          <a:solidFill>
            <a:srgbClr val="EA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spcBef>
                <a:spcPts val="225"/>
              </a:spcBef>
              <a:buNone/>
            </a:pPr>
            <a:r>
              <a:rPr lang="en-US" sz="6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790516" y="2733199"/>
            <a:ext cx="3343275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Many specifications make pricing decisions complex.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0075" y="3142535"/>
            <a:ext cx="3667125" cy="714375"/>
          </a:xfrm>
          <a:prstGeom prst="roundRect">
            <a:avLst>
              <a:gd name="adj" fmla="val 18773"/>
            </a:avLst>
          </a:prstGeom>
          <a:solidFill>
            <a:srgbClr val="F8FBFF"/>
          </a:solidFill>
          <a:ln/>
        </p:spPr>
      </p:sp>
      <p:sp>
        <p:nvSpPr>
          <p:cNvPr id="16" name="Text 14"/>
          <p:cNvSpPr/>
          <p:nvPr/>
        </p:nvSpPr>
        <p:spPr>
          <a:xfrm>
            <a:off x="714375" y="3246834"/>
            <a:ext cx="3438525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spcAft>
                <a:spcPts val="225"/>
              </a:spcAft>
              <a:buNone/>
            </a:pPr>
            <a:r>
              <a:rPr lang="en-US" sz="800" b="1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it matters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14375" y="3418047"/>
            <a:ext cx="3438525" cy="3333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Without structure, price comparison becomes slow and inconsistent.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76775" y="1976200"/>
            <a:ext cx="4067175" cy="2071688"/>
          </a:xfrm>
          <a:prstGeom prst="roundRect">
            <a:avLst>
              <a:gd name="adj" fmla="val 3044"/>
            </a:avLst>
          </a:prstGeom>
          <a:solidFill>
            <a:srgbClr val="EAF4FF"/>
          </a:solidFill>
          <a:ln w="3810">
            <a:solidFill>
              <a:srgbClr val="D9E8F5"/>
            </a:solidFill>
            <a:prstDash val="solid"/>
          </a:ln>
          <a:effectLst>
            <a:outerShdw sx="100000" sy="100000" kx="0" ky="0" algn="bl" rotWithShape="0" blurRad="190500" dist="85725" dir="5400000">
              <a:srgbClr val="0B1F3A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80609" y="2226945"/>
            <a:ext cx="66675" cy="66675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0" name="Text 18"/>
          <p:cNvSpPr/>
          <p:nvPr/>
        </p:nvSpPr>
        <p:spPr>
          <a:xfrm>
            <a:off x="5014197" y="2172176"/>
            <a:ext cx="1295400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2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objective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80609" y="2492215"/>
            <a:ext cx="114300" cy="114300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spcBef>
                <a:spcPts val="225"/>
              </a:spcBef>
              <a:buNone/>
            </a:pPr>
            <a:r>
              <a:rPr lang="en-US" sz="600" b="1" dirty="0">
                <a:solidFill>
                  <a:srgbClr val="0F76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5071020" y="2462688"/>
            <a:ext cx="2605087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Collect, clean, and transform the dataset.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80609" y="2766536"/>
            <a:ext cx="114300" cy="114300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spcBef>
                <a:spcPts val="225"/>
              </a:spcBef>
              <a:buNone/>
            </a:pPr>
            <a:r>
              <a:rPr lang="en-US" sz="600" b="1" dirty="0">
                <a:solidFill>
                  <a:srgbClr val="0F76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5070722" y="2737008"/>
            <a:ext cx="2481263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Train models and build a Streamlit app.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81562" y="3138726"/>
            <a:ext cx="3657600" cy="714375"/>
          </a:xfrm>
          <a:prstGeom prst="roundRect">
            <a:avLst>
              <a:gd name="adj" fmla="val 18773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4995862" y="3243025"/>
            <a:ext cx="3429000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spcAft>
                <a:spcPts val="225"/>
              </a:spcAft>
              <a:buNone/>
            </a:pPr>
            <a:r>
              <a:rPr lang="en-US" sz="8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Outcome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995862" y="3414235"/>
            <a:ext cx="3429000" cy="3333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practical pipeline from raw specs to a usable price prediction tool.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00050" y="4238148"/>
            <a:ext cx="8343900" cy="581025"/>
          </a:xfrm>
          <a:prstGeom prst="roundRect">
            <a:avLst>
              <a:gd name="adj" fmla="val 30959"/>
            </a:avLst>
          </a:prstGeom>
          <a:solidFill>
            <a:srgbClr val="0B1F3A"/>
          </a:solidFill>
          <a:ln/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450" y="4461986"/>
            <a:ext cx="133350" cy="13335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753398" y="4447699"/>
            <a:ext cx="442913" cy="1619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Verdict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2305050" y="4361973"/>
            <a:ext cx="6286500" cy="3333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16"/>
              </a:lnSpc>
              <a:buNone/>
            </a:pPr>
            <a:r>
              <a:rPr lang="en-US" sz="900" dirty="0">
                <a:solidFill>
                  <a:srgbClr val="D9E8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project responds to pricing complexity by converting laptop data into a clean modeling workflow and a simple app interface.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Shape 3"/>
          <p:cNvSpPr/>
          <p:nvPr/>
        </p:nvSpPr>
        <p:spPr>
          <a:xfrm>
            <a:off x="419100" y="375284"/>
            <a:ext cx="66675" cy="66675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543223" y="341948"/>
            <a:ext cx="1423987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b="1" dirty="0">
                <a:solidFill>
                  <a:srgbClr val="0F76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DATASET OVERVIEW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9100" y="551379"/>
            <a:ext cx="5238750" cy="3286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1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Dataset Description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19100" y="957023"/>
            <a:ext cx="5619750" cy="3810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compact laptop pricing dataset with record scale, feature breadth, and a single prediction target.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8296" y="2200155"/>
            <a:ext cx="2643188" cy="1719263"/>
          </a:xfrm>
          <a:prstGeom prst="roundRect">
            <a:avLst>
              <a:gd name="adj" fmla="val 4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85725" dir="5400000">
              <a:srgbClr val="0F172A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0075" y="2382083"/>
            <a:ext cx="266700" cy="266700"/>
          </a:xfrm>
          <a:prstGeom prst="roundRect">
            <a:avLst>
              <a:gd name="adj" fmla="val 27551"/>
            </a:avLst>
          </a:prstGeom>
          <a:solidFill>
            <a:srgbClr val="E6FFFB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750" y="2448758"/>
            <a:ext cx="133350" cy="13335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518261" y="2443995"/>
            <a:ext cx="361950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00" b="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SCALE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599271" y="2772131"/>
            <a:ext cx="2281238" cy="3810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2"/>
              </a:lnSpc>
              <a:buNone/>
            </a:pPr>
            <a:r>
              <a:rPr lang="en-US" sz="31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893</a:t>
            </a:r>
            <a:endParaRPr lang="en-US" sz="3100" dirty="0"/>
          </a:p>
        </p:txBody>
      </p:sp>
      <p:sp>
        <p:nvSpPr>
          <p:cNvPr id="14" name="Text 11"/>
          <p:cNvSpPr/>
          <p:nvPr/>
        </p:nvSpPr>
        <p:spPr>
          <a:xfrm>
            <a:off x="599271" y="3219331"/>
            <a:ext cx="2281238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525"/>
              </a:spcBef>
              <a:buNone/>
            </a:pPr>
            <a:r>
              <a:rPr lang="en-US" sz="11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Laptop records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99271" y="3447455"/>
            <a:ext cx="2281238" cy="3095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Enough rows to compare pricing patterns across brands and configurations.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250375" y="2200155"/>
            <a:ext cx="2643188" cy="1719263"/>
          </a:xfrm>
          <a:prstGeom prst="roundRect">
            <a:avLst>
              <a:gd name="adj" fmla="val 4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85725" dir="5400000">
              <a:srgbClr val="0F172A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432153" y="2382083"/>
            <a:ext cx="266700" cy="266700"/>
          </a:xfrm>
          <a:prstGeom prst="roundRect">
            <a:avLst>
              <a:gd name="adj" fmla="val 27551"/>
            </a:avLst>
          </a:prstGeom>
          <a:solidFill>
            <a:srgbClr val="EAF4FF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8828" y="2448758"/>
            <a:ext cx="133350" cy="13335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144808" y="2443995"/>
            <a:ext cx="566738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00" b="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FEATURES</a:t>
            </a:r>
            <a:endParaRPr lang="en-US" sz="700" dirty="0"/>
          </a:p>
        </p:txBody>
      </p:sp>
      <p:sp>
        <p:nvSpPr>
          <p:cNvPr id="20" name="Text 16"/>
          <p:cNvSpPr/>
          <p:nvPr/>
        </p:nvSpPr>
        <p:spPr>
          <a:xfrm>
            <a:off x="3431350" y="2876431"/>
            <a:ext cx="2281238" cy="2762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Brand + Specs</a:t>
            </a:r>
            <a:endParaRPr lang="en-US" sz="2100" dirty="0"/>
          </a:p>
        </p:txBody>
      </p:sp>
      <p:sp>
        <p:nvSpPr>
          <p:cNvPr id="21" name="Text 17"/>
          <p:cNvSpPr/>
          <p:nvPr/>
        </p:nvSpPr>
        <p:spPr>
          <a:xfrm>
            <a:off x="3431350" y="3219331"/>
            <a:ext cx="2281238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525"/>
              </a:spcBef>
              <a:buNone/>
            </a:pPr>
            <a:r>
              <a:rPr lang="en-US" sz="11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Hardware signals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3431350" y="3447455"/>
            <a:ext cx="2281238" cy="3095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Includes brand, RAM, storage, OS, CPU, GPU, and warranty.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6082458" y="2200155"/>
            <a:ext cx="2643188" cy="1719263"/>
          </a:xfrm>
          <a:prstGeom prst="roundRect">
            <a:avLst>
              <a:gd name="adj" fmla="val 4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85725" dir="5400000">
              <a:srgbClr val="0F172A">
                <a:alpha val="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264236" y="2382083"/>
            <a:ext cx="266700" cy="266700"/>
          </a:xfrm>
          <a:prstGeom prst="roundRect">
            <a:avLst>
              <a:gd name="adj" fmla="val 27551"/>
            </a:avLst>
          </a:prstGeom>
          <a:solidFill>
            <a:srgbClr val="ECFDF5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0911" y="2448758"/>
            <a:ext cx="133350" cy="13335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114434" y="2443995"/>
            <a:ext cx="428625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00" b="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</a:t>
            </a:r>
            <a:endParaRPr lang="en-US" sz="700" dirty="0"/>
          </a:p>
        </p:txBody>
      </p:sp>
      <p:sp>
        <p:nvSpPr>
          <p:cNvPr id="27" name="Text 22"/>
          <p:cNvSpPr/>
          <p:nvPr/>
        </p:nvSpPr>
        <p:spPr>
          <a:xfrm>
            <a:off x="6263433" y="2823775"/>
            <a:ext cx="2281238" cy="3286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92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Price</a:t>
            </a:r>
            <a:endParaRPr lang="en-US" sz="2700" dirty="0"/>
          </a:p>
        </p:txBody>
      </p:sp>
      <p:sp>
        <p:nvSpPr>
          <p:cNvPr id="28" name="Text 23"/>
          <p:cNvSpPr/>
          <p:nvPr/>
        </p:nvSpPr>
        <p:spPr>
          <a:xfrm>
            <a:off x="6263433" y="3219331"/>
            <a:ext cx="2281238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525"/>
              </a:spcBef>
              <a:buNone/>
            </a:pPr>
            <a:r>
              <a:rPr lang="en-US" sz="11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Prediction label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6263433" y="3447455"/>
            <a:ext cx="2281238" cy="3095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model learns to estimate laptop price from the feature set.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F"/>
          </a:solidFill>
          <a:ln/>
        </p:spPr>
      </p:sp>
      <p:sp>
        <p:nvSpPr>
          <p:cNvPr id="5" name="Text 3"/>
          <p:cNvSpPr/>
          <p:nvPr/>
        </p:nvSpPr>
        <p:spPr>
          <a:xfrm>
            <a:off x="419100" y="361474"/>
            <a:ext cx="830580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MACHINE LEARNING WORKFLOW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9100" y="566022"/>
            <a:ext cx="5715000" cy="6334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96"/>
              </a:lnSpc>
              <a:buNone/>
            </a:pPr>
            <a:r>
              <a:rPr lang="en-US" sz="24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Preprocessing and Feature Engineering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9100" y="1266110"/>
            <a:ext cx="5905500" cy="3905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Cleaning the dataset first, then converting raw phone attributes into model-ready signals.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7909" y="1960958"/>
            <a:ext cx="5062538" cy="633412"/>
          </a:xfrm>
          <a:prstGeom prst="roundRect">
            <a:avLst>
              <a:gd name="adj" fmla="val 303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42875" dist="47625" dir="5400000">
              <a:srgbClr val="0B1F3A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81025" y="2149078"/>
            <a:ext cx="257175" cy="257175"/>
          </a:xfrm>
          <a:prstGeom prst="roundRect">
            <a:avLst>
              <a:gd name="adj" fmla="val 26337"/>
            </a:avLst>
          </a:prstGeom>
          <a:solidFill>
            <a:srgbClr val="EAF4F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938" y="2210991"/>
            <a:ext cx="133350" cy="13335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33867" y="2102881"/>
            <a:ext cx="3333750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Removed missing values and unwanted columns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33867" y="2297905"/>
            <a:ext cx="3333750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225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Kept only usable fields before modeling.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17909" y="2698670"/>
            <a:ext cx="5062538" cy="633412"/>
          </a:xfrm>
          <a:prstGeom prst="roundRect">
            <a:avLst>
              <a:gd name="adj" fmla="val 303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42875" dist="47625" dir="5400000">
              <a:srgbClr val="0B1F3A">
                <a:alpha val="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81025" y="2886789"/>
            <a:ext cx="257175" cy="257175"/>
          </a:xfrm>
          <a:prstGeom prst="roundRect">
            <a:avLst>
              <a:gd name="adj" fmla="val 26337"/>
            </a:avLst>
          </a:prstGeom>
          <a:solidFill>
            <a:srgbClr val="EAF4F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" y="2948701"/>
            <a:ext cx="133350" cy="13335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34581" y="2840593"/>
            <a:ext cx="2200275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Cleaned RAM and ROM values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934581" y="3035617"/>
            <a:ext cx="220027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225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Standardized storage fields for consistency.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17909" y="3436381"/>
            <a:ext cx="5062538" cy="633412"/>
          </a:xfrm>
          <a:prstGeom prst="roundRect">
            <a:avLst>
              <a:gd name="adj" fmla="val 303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42875" dist="47625" dir="5400000">
              <a:srgbClr val="0B1F3A">
                <a:alpha val="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81025" y="3624501"/>
            <a:ext cx="257175" cy="257175"/>
          </a:xfrm>
          <a:prstGeom prst="roundRect">
            <a:avLst>
              <a:gd name="adj" fmla="val 26337"/>
            </a:avLst>
          </a:prstGeom>
          <a:solidFill>
            <a:srgbClr val="EAF4F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8" y="3686413"/>
            <a:ext cx="133350" cy="13335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33658" y="3578304"/>
            <a:ext cx="2667000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Converted text fields into numeric form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933658" y="3773328"/>
            <a:ext cx="2667000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225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Prepared categorical inputs for learning.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417909" y="4319111"/>
            <a:ext cx="5062538" cy="566738"/>
          </a:xfrm>
          <a:prstGeom prst="roundRect">
            <a:avLst>
              <a:gd name="adj" fmla="val 37963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61925" dist="66675" dir="5400000">
              <a:srgbClr val="0B1F3A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71500" y="4488180"/>
            <a:ext cx="228600" cy="228600"/>
          </a:xfrm>
          <a:prstGeom prst="roundRect">
            <a:avLst>
              <a:gd name="adj" fmla="val 29167"/>
            </a:avLst>
          </a:prstGeom>
          <a:solidFill>
            <a:srgbClr val="14B8A6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8" y="4540567"/>
            <a:ext cx="123825" cy="123825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76062" y="4450794"/>
            <a:ext cx="2219325" cy="1619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Model-ready feature set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876062" y="4611052"/>
            <a:ext cx="2219325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00" dirty="0">
                <a:solidFill>
                  <a:srgbClr val="D9E8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Cleaner inputs, stronger signal, simpler training.</a:t>
            </a:r>
            <a:endParaRPr lang="en-US" sz="800" dirty="0"/>
          </a:p>
        </p:txBody>
      </p:sp>
      <p:sp>
        <p:nvSpPr>
          <p:cNvPr id="28" name="Text 22"/>
          <p:cNvSpPr/>
          <p:nvPr/>
        </p:nvSpPr>
        <p:spPr>
          <a:xfrm>
            <a:off x="3706770" y="4457223"/>
            <a:ext cx="1619250" cy="290513"/>
          </a:xfrm>
          <a:prstGeom prst="roundRect">
            <a:avLst>
              <a:gd name="adj" fmla="val 23220"/>
            </a:avLst>
          </a:prstGeom>
          <a:solidFill>
            <a:srgbClr val="14B8A6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CPU · GPU · resolution · type</a:t>
            </a:r>
            <a:endParaRPr lang="en-US" sz="800" dirty="0"/>
          </a:p>
        </p:txBody>
      </p:sp>
      <p:sp>
        <p:nvSpPr>
          <p:cNvPr id="29" name="Shape 23"/>
          <p:cNvSpPr/>
          <p:nvPr/>
        </p:nvSpPr>
        <p:spPr>
          <a:xfrm>
            <a:off x="5687616" y="1960839"/>
            <a:ext cx="3038475" cy="1919287"/>
          </a:xfrm>
          <a:prstGeom prst="roundRect">
            <a:avLst>
              <a:gd name="adj" fmla="val 3783"/>
            </a:avLst>
          </a:prstGeom>
          <a:solidFill>
            <a:srgbClr val="EAF4FF"/>
          </a:solidFill>
          <a:ln/>
          <a:effectLst>
            <a:outerShdw sx="100000" sy="100000" kx="0" ky="0" algn="bl" rotWithShape="0" blurRad="133350" dist="47625" dir="5400000">
              <a:srgbClr val="0B1F3A">
                <a:alpha val="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5850731" y="2152650"/>
            <a:ext cx="66675" cy="66675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1" name="Text 25"/>
          <p:cNvSpPr/>
          <p:nvPr/>
        </p:nvSpPr>
        <p:spPr>
          <a:xfrm>
            <a:off x="5974646" y="2124074"/>
            <a:ext cx="1009650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IT MATTERS</a:t>
            </a:r>
            <a:endParaRPr lang="en-US" sz="800" dirty="0"/>
          </a:p>
        </p:txBody>
      </p:sp>
      <p:sp>
        <p:nvSpPr>
          <p:cNvPr id="32" name="Text 26"/>
          <p:cNvSpPr/>
          <p:nvPr/>
        </p:nvSpPr>
        <p:spPr>
          <a:xfrm>
            <a:off x="5850731" y="2325170"/>
            <a:ext cx="2000250" cy="8286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2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Raw columns become structured signals the model can actually compare.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5850731" y="3240643"/>
            <a:ext cx="2000250" cy="495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spcBef>
                <a:spcPts val="675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step reduces noise and turns descriptive phone specs into consistent inputs.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5687616" y="3995023"/>
            <a:ext cx="3038475" cy="890587"/>
          </a:xfrm>
          <a:prstGeom prst="roundRect">
            <a:avLst>
              <a:gd name="adj" fmla="val 175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3350" dist="47625" dir="5400000">
              <a:srgbClr val="0B1F3A">
                <a:alpha val="5000"/>
              </a:srgbClr>
            </a:outerShdw>
          </a:effectLst>
        </p:spPr>
      </p:sp>
      <p:sp>
        <p:nvSpPr>
          <p:cNvPr id="35" name="Text 29"/>
          <p:cNvSpPr/>
          <p:nvPr/>
        </p:nvSpPr>
        <p:spPr>
          <a:xfrm>
            <a:off x="5840016" y="4137898"/>
            <a:ext cx="2733675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00" b="1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 BLOCKS CREATED</a:t>
            </a:r>
            <a:endParaRPr lang="en-US" sz="800" dirty="0"/>
          </a:p>
        </p:txBody>
      </p:sp>
      <p:sp>
        <p:nvSpPr>
          <p:cNvPr id="36" name="Shape 30"/>
          <p:cNvSpPr/>
          <p:nvPr/>
        </p:nvSpPr>
        <p:spPr>
          <a:xfrm>
            <a:off x="5841206" y="4406741"/>
            <a:ext cx="57150" cy="5715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37" name="Text 31"/>
          <p:cNvSpPr/>
          <p:nvPr/>
        </p:nvSpPr>
        <p:spPr>
          <a:xfrm>
            <a:off x="5964406" y="4356735"/>
            <a:ext cx="1528763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00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CPU and GPU descriptors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5841206" y="4637723"/>
            <a:ext cx="57150" cy="5715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9" name="Text 33"/>
          <p:cNvSpPr/>
          <p:nvPr/>
        </p:nvSpPr>
        <p:spPr>
          <a:xfrm>
            <a:off x="5964168" y="4587716"/>
            <a:ext cx="1604963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00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Resolution and device type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Text 2"/>
          <p:cNvSpPr/>
          <p:nvPr/>
        </p:nvSpPr>
        <p:spPr>
          <a:xfrm>
            <a:off x="381000" y="343852"/>
            <a:ext cx="8382000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900" b="1" dirty="0">
                <a:solidFill>
                  <a:srgbClr val="0F76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TRAINING AND SELECTION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81000" y="535096"/>
            <a:ext cx="5715000" cy="3143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2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Random Forest led the comparison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81000" y="915888"/>
            <a:ext cx="5334000" cy="4048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4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Four regressors were compared on R², with a clear winner and a tight middle pack.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1268" y="1586657"/>
            <a:ext cx="5219700" cy="3252788"/>
          </a:xfrm>
          <a:prstGeom prst="roundRect">
            <a:avLst>
              <a:gd name="adj" fmla="val 1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85725" dir="5400000">
              <a:srgbClr val="0F172A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2121" y="1749326"/>
            <a:ext cx="2371725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100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R² by model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2121" y="1943398"/>
            <a:ext cx="237172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1"/>
              </a:lnSpc>
              <a:spcBef>
                <a:spcPts val="300"/>
              </a:spcBef>
              <a:buNone/>
            </a:pPr>
            <a:r>
              <a:rPr lang="en-US" sz="8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Higher is better; Random Forest is the strongest fit.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433499" y="1774329"/>
            <a:ext cx="1004887" cy="276225"/>
          </a:xfrm>
          <a:prstGeom prst="roundRect">
            <a:avLst>
              <a:gd name="adj" fmla="val 41379"/>
            </a:avLst>
          </a:prstGeom>
          <a:solidFill>
            <a:srgbClr val="EAF4FF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18301" y="1860054"/>
            <a:ext cx="104775" cy="10477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670701" y="1856244"/>
            <a:ext cx="682884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25"/>
              </a:lnSpc>
              <a:buNone/>
            </a:pPr>
            <a:r>
              <a:rPr lang="en-US" sz="700" b="1" dirty="0">
                <a:solidFill>
                  <a:srgbClr val="0F766E"/>
                </a:solidFill>
                <a:highlight>
                  <a:srgbClr val="EAF4FF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Best performer</a:t>
            </a:r>
            <a:endParaRPr lang="en-US" sz="7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542925" y="2180332"/>
          <a:ext cx="4895850" cy="2524125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Shape 10"/>
          <p:cNvSpPr/>
          <p:nvPr/>
        </p:nvSpPr>
        <p:spPr>
          <a:xfrm>
            <a:off x="5810487" y="1586925"/>
            <a:ext cx="2952750" cy="919162"/>
          </a:xfrm>
          <a:prstGeom prst="roundRect">
            <a:avLst>
              <a:gd name="adj" fmla="val 144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61925" dist="66675" dir="5400000">
              <a:srgbClr val="0F172A">
                <a:alpha val="8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853" y="1732180"/>
            <a:ext cx="123825" cy="1238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81484" y="1720275"/>
            <a:ext cx="661987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1000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 model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5990508" y="1934111"/>
            <a:ext cx="2638425" cy="2667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0.833</a:t>
            </a:r>
            <a:endParaRPr lang="en-US" sz="2100" dirty="0"/>
          </a:p>
        </p:txBody>
      </p:sp>
      <p:sp>
        <p:nvSpPr>
          <p:cNvPr id="18" name="Text 13"/>
          <p:cNvSpPr/>
          <p:nvPr/>
        </p:nvSpPr>
        <p:spPr>
          <a:xfrm>
            <a:off x="5990508" y="2238911"/>
            <a:ext cx="2638425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Random Forest Regressor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5810487" y="2610862"/>
            <a:ext cx="2952750" cy="842963"/>
          </a:xfrm>
          <a:prstGeom prst="roundRect">
            <a:avLst>
              <a:gd name="adj" fmla="val 171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61925" dist="66675" dir="5400000">
              <a:srgbClr val="0F172A">
                <a:alpha val="8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4135" y="2755166"/>
            <a:ext cx="123825" cy="12382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134546" y="2743260"/>
            <a:ext cx="1119188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1000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Close contenders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5945147" y="2968050"/>
            <a:ext cx="614363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Extra Trees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8272223" y="2957095"/>
            <a:ext cx="357188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0.799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945117" y="3192839"/>
            <a:ext cx="995362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Linear Regression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8272223" y="3181886"/>
            <a:ext cx="357188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0.798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5810487" y="3558332"/>
            <a:ext cx="2952750" cy="1281112"/>
          </a:xfrm>
          <a:prstGeom prst="roundRect">
            <a:avLst>
              <a:gd name="adj" fmla="val 7429"/>
            </a:avLst>
          </a:prstGeom>
          <a:solidFill>
            <a:srgbClr val="EAF4FF"/>
          </a:solidFill>
          <a:ln/>
          <a:effectLst>
            <a:outerShdw sx="100000" sy="100000" kx="0" ky="0" algn="bl" rotWithShape="0" blurRad="161925" dist="66675" dir="5400000">
              <a:srgbClr val="0F172A">
                <a:alpha val="6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3660" y="3962400"/>
            <a:ext cx="133350" cy="13335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153387" y="3953589"/>
            <a:ext cx="2466975" cy="5000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00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middle two models are nearly tied, so the selection comes down to the best overall fit and stability.</a:t>
            </a:r>
            <a:endParaRPr lang="en-US" sz="9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10487" y="1586925"/>
            <a:ext cx="2952750" cy="91916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F"/>
          </a:solidFill>
          <a:ln/>
        </p:spPr>
      </p:sp>
      <p:sp>
        <p:nvSpPr>
          <p:cNvPr id="5" name="Text 3"/>
          <p:cNvSpPr/>
          <p:nvPr/>
        </p:nvSpPr>
        <p:spPr>
          <a:xfrm>
            <a:off x="400050" y="342424"/>
            <a:ext cx="533400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525"/>
              </a:spcAft>
              <a:buNone/>
            </a:pPr>
            <a:r>
              <a:rPr lang="en-US" sz="900" b="1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EVALUATION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00050" y="547211"/>
            <a:ext cx="4667250" cy="3190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Performance Evaluation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00050" y="953453"/>
            <a:ext cx="5334000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Bef>
                <a:spcPts val="675"/>
              </a:spcBef>
              <a:buNone/>
            </a:pPr>
            <a:r>
              <a:rPr lang="en-US" sz="12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Measured with R² and MAE, then compared across candidates to select the most reliable deployment model.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229742" y="343853"/>
            <a:ext cx="1514475" cy="438150"/>
          </a:xfrm>
          <a:prstGeom prst="roundRect">
            <a:avLst>
              <a:gd name="adj" fmla="val 13611"/>
            </a:avLst>
          </a:prstGeom>
          <a:solidFill>
            <a:srgbClr val="EAF4FF"/>
          </a:solidFill>
          <a:ln/>
        </p:spPr>
      </p:sp>
      <p:sp>
        <p:nvSpPr>
          <p:cNvPr id="9" name="Shape 7"/>
          <p:cNvSpPr/>
          <p:nvPr/>
        </p:nvSpPr>
        <p:spPr>
          <a:xfrm>
            <a:off x="7334785" y="458152"/>
            <a:ext cx="209550" cy="209550"/>
          </a:xfrm>
          <a:prstGeom prst="roundRect">
            <a:avLst>
              <a:gd name="adj" fmla="val 34711"/>
            </a:avLst>
          </a:prstGeom>
          <a:solidFill>
            <a:srgbClr val="0B1F3A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7172" y="510540"/>
            <a:ext cx="104775" cy="10477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601217" y="429577"/>
            <a:ext cx="1038225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Deployment choice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7601217" y="573405"/>
            <a:ext cx="1038225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150"/>
              </a:spcBef>
              <a:buNone/>
            </a:pPr>
            <a:r>
              <a:rPr lang="en-US" sz="7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Random Forest selected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400824" y="1667827"/>
            <a:ext cx="2671763" cy="2900363"/>
          </a:xfrm>
          <a:prstGeom prst="roundRect">
            <a:avLst>
              <a:gd name="adj" fmla="val 1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76200" dir="5400000">
              <a:srgbClr val="0B1F3A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61975" y="1830705"/>
            <a:ext cx="276225" cy="276225"/>
          </a:xfrm>
          <a:prstGeom prst="roundRect">
            <a:avLst>
              <a:gd name="adj" fmla="val 25684"/>
            </a:avLst>
          </a:prstGeom>
          <a:solidFill>
            <a:srgbClr val="EAF4F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3" y="1902143"/>
            <a:ext cx="133350" cy="13335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62749" y="2201228"/>
            <a:ext cx="2347912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Aft>
                <a:spcPts val="375"/>
              </a:spcAft>
              <a:buNone/>
            </a:pPr>
            <a:r>
              <a:rPr lang="en-US" sz="13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Metrics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62749" y="2437924"/>
            <a:ext cx="2347912" cy="14811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 evaluated the models using R² score and MAE to capture fit quality and error size.</a:t>
            </a:r>
            <a:endParaRPr lang="en-US" sz="1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75" y="4037647"/>
            <a:ext cx="104775" cy="10477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25061" y="4023598"/>
            <a:ext cx="1690688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00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R² score for explanatory power</a:t>
            </a:r>
            <a:endParaRPr lang="en-US" sz="9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" y="4261961"/>
            <a:ext cx="104775" cy="10477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24317" y="4247912"/>
            <a:ext cx="1795462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00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MAE for average prediction error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3236090" y="1667827"/>
            <a:ext cx="2671763" cy="2900363"/>
          </a:xfrm>
          <a:prstGeom prst="roundRect">
            <a:avLst>
              <a:gd name="adj" fmla="val 1830"/>
            </a:avLst>
          </a:prstGeom>
          <a:solidFill>
            <a:srgbClr val="0B1F3A"/>
          </a:solidFill>
          <a:ln/>
          <a:effectLst>
            <a:outerShdw sx="100000" sy="100000" kx="0" ky="0" algn="bl" rotWithShape="0" blurRad="209550" dist="85725" dir="5400000">
              <a:srgbClr val="0B1F3A">
                <a:alpha val="14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3397211" y="1830705"/>
            <a:ext cx="276225" cy="276225"/>
          </a:xfrm>
          <a:prstGeom prst="roundRect">
            <a:avLst>
              <a:gd name="adj" fmla="val 25684"/>
            </a:avLst>
          </a:prstGeom>
          <a:solidFill>
            <a:srgbClr val="14B8A6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8649" y="1902143"/>
            <a:ext cx="133350" cy="13335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398015" y="2201228"/>
            <a:ext cx="2347912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Aft>
                <a:spcPts val="375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Ranking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3398015" y="2437448"/>
            <a:ext cx="2347912" cy="11477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00" dirty="0">
                <a:solidFill>
                  <a:srgbClr val="D9E8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comparison showed strong accuracy, with Random Forest performing best overall against the alternatives.</a:t>
            </a:r>
            <a:endParaRPr lang="en-US" sz="10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7211" y="3703320"/>
            <a:ext cx="104775" cy="104775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559940" y="3689509"/>
            <a:ext cx="2185988" cy="3333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Strong accuracy across the comparison set</a:t>
            </a:r>
            <a:endParaRPr lang="en-US" sz="9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97211" y="4094797"/>
            <a:ext cx="104775" cy="104775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3559940" y="4080986"/>
            <a:ext cx="2185988" cy="3333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Random Forest emerged as the top performer</a:t>
            </a:r>
            <a:endParaRPr lang="en-US" sz="900" dirty="0"/>
          </a:p>
        </p:txBody>
      </p:sp>
      <p:sp>
        <p:nvSpPr>
          <p:cNvPr id="31" name="Shape 22"/>
          <p:cNvSpPr/>
          <p:nvPr/>
        </p:nvSpPr>
        <p:spPr>
          <a:xfrm>
            <a:off x="6071382" y="1667827"/>
            <a:ext cx="2671763" cy="2900363"/>
          </a:xfrm>
          <a:prstGeom prst="roundRect">
            <a:avLst>
              <a:gd name="adj" fmla="val 1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76200" dir="5400000">
              <a:srgbClr val="0B1F3A">
                <a:alpha val="8000"/>
              </a:srgbClr>
            </a:outerShdw>
          </a:effectLst>
        </p:spPr>
      </p:sp>
      <p:sp>
        <p:nvSpPr>
          <p:cNvPr id="32" name="Shape 23"/>
          <p:cNvSpPr/>
          <p:nvPr/>
        </p:nvSpPr>
        <p:spPr>
          <a:xfrm>
            <a:off x="6232503" y="1830705"/>
            <a:ext cx="276225" cy="276225"/>
          </a:xfrm>
          <a:prstGeom prst="roundRect">
            <a:avLst>
              <a:gd name="adj" fmla="val 25684"/>
            </a:avLst>
          </a:prstGeom>
          <a:solidFill>
            <a:srgbClr val="EAF4FF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3941" y="1902143"/>
            <a:ext cx="133350" cy="13335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233307" y="2201228"/>
            <a:ext cx="2347912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Aft>
                <a:spcPts val="375"/>
              </a:spcAft>
              <a:buNone/>
            </a:pPr>
            <a:r>
              <a:rPr lang="en-US" sz="13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Selection</a:t>
            </a:r>
            <a:endParaRPr lang="en-US" sz="1300" dirty="0"/>
          </a:p>
        </p:txBody>
      </p:sp>
      <p:sp>
        <p:nvSpPr>
          <p:cNvPr id="35" name="Text 25"/>
          <p:cNvSpPr/>
          <p:nvPr/>
        </p:nvSpPr>
        <p:spPr>
          <a:xfrm>
            <a:off x="6233307" y="2437924"/>
            <a:ext cx="2347912" cy="14811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Random Forest was chosen for deployment because it combined the strongest overall performance with stable evaluation results.</a:t>
            </a:r>
            <a:endParaRPr lang="en-US" sz="1000" dirty="0"/>
          </a:p>
        </p:txBody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2503" y="4037647"/>
            <a:ext cx="104775" cy="104775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6393595" y="4023598"/>
            <a:ext cx="1804988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00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Best overall fit for production use</a:t>
            </a:r>
            <a:endParaRPr lang="en-US" sz="900" dirty="0"/>
          </a:p>
        </p:txBody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32503" y="4261961"/>
            <a:ext cx="104775" cy="104775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6394101" y="4247912"/>
            <a:ext cx="1652587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00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Chosen model for deployment</a:t>
            </a:r>
            <a:endParaRPr lang="en-US" sz="900" dirty="0"/>
          </a:p>
        </p:txBody>
      </p:sp>
      <p:sp>
        <p:nvSpPr>
          <p:cNvPr id="40" name="Text 28"/>
          <p:cNvSpPr/>
          <p:nvPr/>
        </p:nvSpPr>
        <p:spPr>
          <a:xfrm>
            <a:off x="5442701" y="4729163"/>
            <a:ext cx="3300413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Evaluation guided the final model choice from accuracy, error, and robustness.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Text 3"/>
          <p:cNvSpPr/>
          <p:nvPr/>
        </p:nvSpPr>
        <p:spPr>
          <a:xfrm>
            <a:off x="400050" y="343852"/>
            <a:ext cx="6286500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900" b="1" dirty="0">
                <a:solidFill>
                  <a:srgbClr val="0F76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WEB APP OVERVIEW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00050" y="535097"/>
            <a:ext cx="6096000" cy="3143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2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Streamlit Application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00050" y="915888"/>
            <a:ext cx="5619750" cy="3810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clean interface for entering laptop specs and returning an estimated price with a category label.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01092" y="1572369"/>
            <a:ext cx="4948238" cy="3267075"/>
          </a:xfrm>
          <a:prstGeom prst="roundRect">
            <a:avLst>
              <a:gd name="adj" fmla="val 13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85725" dir="5400000">
              <a:srgbClr val="0F172A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01092" y="1572637"/>
            <a:ext cx="4948238" cy="557213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0" name="Text 8"/>
          <p:cNvSpPr/>
          <p:nvPr/>
        </p:nvSpPr>
        <p:spPr>
          <a:xfrm>
            <a:off x="553075" y="1705987"/>
            <a:ext cx="1457325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Laptop Price Predictor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53075" y="1881723"/>
            <a:ext cx="1457325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D6E5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Streamlit + Python model interface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4283956" y="1741706"/>
            <a:ext cx="914400" cy="219075"/>
          </a:xfrm>
          <a:prstGeom prst="roundRect">
            <a:avLst>
              <a:gd name="adj" fmla="val 52174"/>
            </a:avLst>
          </a:prstGeom>
          <a:solidFill>
            <a:srgbClr val="102A43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0543" y="1798856"/>
            <a:ext cx="104775" cy="104775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512556" y="1798856"/>
            <a:ext cx="609600" cy="1047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Fast estimate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401092" y="2129105"/>
            <a:ext cx="4948238" cy="2709863"/>
          </a:xfrm>
          <a:prstGeom prst="rect">
            <a:avLst/>
          </a:prstGeom>
          <a:solidFill>
            <a:srgbClr val="F8FBFF"/>
          </a:solidFill>
          <a:ln/>
        </p:spPr>
      </p:sp>
      <p:sp>
        <p:nvSpPr>
          <p:cNvPr id="16" name="Text 13"/>
          <p:cNvSpPr/>
          <p:nvPr/>
        </p:nvSpPr>
        <p:spPr>
          <a:xfrm>
            <a:off x="541824" y="2272724"/>
            <a:ext cx="2362200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000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inputs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42359" y="2511326"/>
            <a:ext cx="1138237" cy="400050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47625" dir="5400000">
              <a:srgbClr val="0F172A">
                <a:alpha val="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7134" y="2606576"/>
            <a:ext cx="928688" cy="1047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5"/>
              </a:lnSpc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Brand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647134" y="2749451"/>
            <a:ext cx="928688" cy="66675"/>
          </a:xfrm>
          <a:prstGeom prst="roundRect">
            <a:avLst>
              <a:gd name="adj" fmla="val 171429"/>
            </a:avLst>
          </a:prstGeom>
          <a:solidFill>
            <a:srgbClr val="D9E8F5"/>
          </a:solidFill>
          <a:ln/>
        </p:spPr>
      </p:sp>
      <p:sp>
        <p:nvSpPr>
          <p:cNvPr id="20" name="Shape 17"/>
          <p:cNvSpPr/>
          <p:nvPr/>
        </p:nvSpPr>
        <p:spPr>
          <a:xfrm>
            <a:off x="1765222" y="2511326"/>
            <a:ext cx="1138237" cy="400050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47625" dir="5400000">
              <a:srgbClr val="0F172A">
                <a:alpha val="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1869997" y="2606576"/>
            <a:ext cx="928688" cy="1047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5"/>
              </a:lnSpc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RAM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1869997" y="2749451"/>
            <a:ext cx="928688" cy="66675"/>
          </a:xfrm>
          <a:prstGeom prst="roundRect">
            <a:avLst>
              <a:gd name="adj" fmla="val 171429"/>
            </a:avLst>
          </a:prstGeom>
          <a:solidFill>
            <a:srgbClr val="D9E8F5"/>
          </a:solidFill>
          <a:ln/>
        </p:spPr>
      </p:sp>
      <p:sp>
        <p:nvSpPr>
          <p:cNvPr id="23" name="Shape 20"/>
          <p:cNvSpPr/>
          <p:nvPr/>
        </p:nvSpPr>
        <p:spPr>
          <a:xfrm>
            <a:off x="542359" y="2997101"/>
            <a:ext cx="1138237" cy="400050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47625" dir="5400000">
              <a:srgbClr val="0F172A">
                <a:alpha val="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47134" y="3092351"/>
            <a:ext cx="928688" cy="1047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5"/>
              </a:lnSpc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Storage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647134" y="3235226"/>
            <a:ext cx="928688" cy="66675"/>
          </a:xfrm>
          <a:prstGeom prst="roundRect">
            <a:avLst>
              <a:gd name="adj" fmla="val 171429"/>
            </a:avLst>
          </a:prstGeom>
          <a:solidFill>
            <a:srgbClr val="D9E8F5"/>
          </a:solidFill>
          <a:ln/>
        </p:spPr>
      </p:sp>
      <p:sp>
        <p:nvSpPr>
          <p:cNvPr id="26" name="Shape 23"/>
          <p:cNvSpPr/>
          <p:nvPr/>
        </p:nvSpPr>
        <p:spPr>
          <a:xfrm>
            <a:off x="1765222" y="2997101"/>
            <a:ext cx="1138237" cy="400050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47625" dir="5400000">
              <a:srgbClr val="0F172A">
                <a:alpha val="5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1869997" y="3092351"/>
            <a:ext cx="928688" cy="1047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5"/>
              </a:lnSpc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CPU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1869997" y="3235226"/>
            <a:ext cx="928688" cy="66675"/>
          </a:xfrm>
          <a:prstGeom prst="roundRect">
            <a:avLst>
              <a:gd name="adj" fmla="val 171429"/>
            </a:avLst>
          </a:prstGeom>
          <a:solidFill>
            <a:srgbClr val="D9E8F5"/>
          </a:solidFill>
          <a:ln/>
        </p:spPr>
      </p:sp>
      <p:sp>
        <p:nvSpPr>
          <p:cNvPr id="29" name="Shape 26"/>
          <p:cNvSpPr/>
          <p:nvPr/>
        </p:nvSpPr>
        <p:spPr>
          <a:xfrm>
            <a:off x="542359" y="3482876"/>
            <a:ext cx="1138237" cy="400050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47625" dir="5400000">
              <a:srgbClr val="0F172A">
                <a:alpha val="5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647134" y="3578126"/>
            <a:ext cx="928688" cy="1047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5"/>
              </a:lnSpc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GPU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647134" y="3721001"/>
            <a:ext cx="928688" cy="66675"/>
          </a:xfrm>
          <a:prstGeom prst="roundRect">
            <a:avLst>
              <a:gd name="adj" fmla="val 171429"/>
            </a:avLst>
          </a:prstGeom>
          <a:solidFill>
            <a:srgbClr val="D9E8F5"/>
          </a:solidFill>
          <a:ln/>
        </p:spPr>
      </p:sp>
      <p:sp>
        <p:nvSpPr>
          <p:cNvPr id="32" name="Shape 29"/>
          <p:cNvSpPr/>
          <p:nvPr/>
        </p:nvSpPr>
        <p:spPr>
          <a:xfrm>
            <a:off x="1765222" y="3482876"/>
            <a:ext cx="1138237" cy="400050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47625" dir="5400000">
              <a:srgbClr val="0F172A">
                <a:alpha val="5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1869997" y="3578126"/>
            <a:ext cx="928688" cy="1047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5"/>
              </a:lnSpc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Warranty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1869997" y="3721001"/>
            <a:ext cx="928688" cy="66675"/>
          </a:xfrm>
          <a:prstGeom prst="roundRect">
            <a:avLst>
              <a:gd name="adj" fmla="val 171429"/>
            </a:avLst>
          </a:prstGeom>
          <a:solidFill>
            <a:srgbClr val="D9E8F5"/>
          </a:solidFill>
          <a:ln/>
        </p:spPr>
      </p:sp>
      <p:sp>
        <p:nvSpPr>
          <p:cNvPr id="35" name="Shape 32"/>
          <p:cNvSpPr/>
          <p:nvPr/>
        </p:nvSpPr>
        <p:spPr>
          <a:xfrm>
            <a:off x="541824" y="3988415"/>
            <a:ext cx="2362200" cy="509587"/>
          </a:xfrm>
          <a:prstGeom prst="roundRect">
            <a:avLst>
              <a:gd name="adj" fmla="val 469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3825" dist="57150" dir="5400000">
              <a:srgbClr val="0F172A">
                <a:alpha val="6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665649" y="4102715"/>
            <a:ext cx="2114550" cy="1190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9"/>
              </a:lnSpc>
              <a:spcAft>
                <a:spcPts val="375"/>
              </a:spcAft>
              <a:buNone/>
            </a:pPr>
            <a:r>
              <a:rPr lang="en-US" sz="800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Display size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666244" y="4284404"/>
            <a:ext cx="1719263" cy="85725"/>
          </a:xfrm>
          <a:prstGeom prst="roundRect">
            <a:avLst>
              <a:gd name="adj" fmla="val 133333"/>
            </a:avLst>
          </a:prstGeom>
          <a:solidFill>
            <a:srgbClr val="D9E8F5"/>
          </a:solidFill>
          <a:ln/>
        </p:spPr>
      </p:sp>
      <p:sp>
        <p:nvSpPr>
          <p:cNvPr id="38" name="Shape 35"/>
          <p:cNvSpPr/>
          <p:nvPr/>
        </p:nvSpPr>
        <p:spPr>
          <a:xfrm>
            <a:off x="667524" y="4284404"/>
            <a:ext cx="1166812" cy="85725"/>
          </a:xfrm>
          <a:prstGeom prst="roundRect">
            <a:avLst>
              <a:gd name="adj" fmla="val 133333"/>
            </a:avLst>
          </a:prstGeom>
          <a:solidFill>
            <a:srgbClr val="14B8A6"/>
          </a:solidFill>
          <a:ln/>
        </p:spPr>
      </p:sp>
      <p:sp>
        <p:nvSpPr>
          <p:cNvPr id="39" name="Text 36"/>
          <p:cNvSpPr/>
          <p:nvPr/>
        </p:nvSpPr>
        <p:spPr>
          <a:xfrm>
            <a:off x="2460603" y="4270117"/>
            <a:ext cx="319088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13–17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3036003" y="2273201"/>
            <a:ext cx="2171700" cy="1062038"/>
          </a:xfrm>
          <a:prstGeom prst="roundRect">
            <a:avLst>
              <a:gd name="adj" fmla="val 11583"/>
            </a:avLst>
          </a:prstGeom>
          <a:solidFill>
            <a:srgbClr val="FFFFFF"/>
          </a:solidFill>
          <a:ln w="3810">
            <a:solidFill>
              <a:srgbClr val="D9E8F5"/>
            </a:solidFill>
            <a:prstDash val="solid"/>
          </a:ln>
          <a:effectLst>
            <a:outerShdw sx="100000" sy="100000" kx="0" ky="0" algn="bl" rotWithShape="0" blurRad="123825" dist="57150" dir="5400000">
              <a:srgbClr val="0F172A">
                <a:alpha val="6000"/>
              </a:srgbClr>
            </a:outerShdw>
          </a:effectLst>
        </p:spPr>
      </p:sp>
      <p:sp>
        <p:nvSpPr>
          <p:cNvPr id="41" name="Text 38"/>
          <p:cNvSpPr/>
          <p:nvPr/>
        </p:nvSpPr>
        <p:spPr>
          <a:xfrm>
            <a:off x="3153754" y="2400836"/>
            <a:ext cx="852488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900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Estimated price</a:t>
            </a:r>
            <a:endParaRPr lang="en-US" sz="900" dirty="0"/>
          </a:p>
        </p:txBody>
      </p:sp>
      <p:pic>
        <p:nvPicPr>
          <p:cNvPr id="4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5027" y="2405598"/>
            <a:ext cx="114300" cy="114300"/>
          </a:xfrm>
          <a:prstGeom prst="rect">
            <a:avLst/>
          </a:prstGeom>
        </p:spPr>
      </p:pic>
      <p:sp>
        <p:nvSpPr>
          <p:cNvPr id="43" name="Text 39"/>
          <p:cNvSpPr/>
          <p:nvPr/>
        </p:nvSpPr>
        <p:spPr>
          <a:xfrm>
            <a:off x="3155064" y="2601813"/>
            <a:ext cx="1933575" cy="2667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21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₹ —</a:t>
            </a:r>
            <a:endParaRPr lang="en-US" sz="2100" dirty="0"/>
          </a:p>
        </p:txBody>
      </p:sp>
      <p:sp>
        <p:nvSpPr>
          <p:cNvPr id="44" name="Text 40"/>
          <p:cNvSpPr/>
          <p:nvPr/>
        </p:nvSpPr>
        <p:spPr>
          <a:xfrm>
            <a:off x="3155064" y="2926616"/>
            <a:ext cx="1933575" cy="2809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output appears instantly after inputs are selected.</a:t>
            </a:r>
            <a:endParaRPr lang="en-US" sz="800" dirty="0"/>
          </a:p>
        </p:txBody>
      </p:sp>
      <p:sp>
        <p:nvSpPr>
          <p:cNvPr id="45" name="Shape 41"/>
          <p:cNvSpPr/>
          <p:nvPr/>
        </p:nvSpPr>
        <p:spPr>
          <a:xfrm>
            <a:off x="3036003" y="3441918"/>
            <a:ext cx="2171700" cy="1028700"/>
          </a:xfrm>
          <a:prstGeom prst="roundRect">
            <a:avLst>
              <a:gd name="adj" fmla="val 12346"/>
            </a:avLst>
          </a:prstGeom>
          <a:solidFill>
            <a:srgbClr val="EAF4FF"/>
          </a:solidFill>
          <a:ln/>
          <a:effectLst>
            <a:outerShdw sx="100000" sy="100000" kx="0" ky="0" algn="bl" rotWithShape="0" blurRad="114300" dist="47625" dir="5400000">
              <a:srgbClr val="0F172A">
                <a:alpha val="5000"/>
              </a:srgbClr>
            </a:outerShdw>
          </a:effectLst>
        </p:spPr>
      </p:sp>
      <p:sp>
        <p:nvSpPr>
          <p:cNvPr id="46" name="Text 42"/>
          <p:cNvSpPr/>
          <p:nvPr/>
        </p:nvSpPr>
        <p:spPr>
          <a:xfrm>
            <a:off x="3150303" y="3565743"/>
            <a:ext cx="1943100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Price category</a:t>
            </a:r>
            <a:endParaRPr lang="en-US" sz="900" dirty="0"/>
          </a:p>
        </p:txBody>
      </p:sp>
      <p:sp>
        <p:nvSpPr>
          <p:cNvPr id="47" name="Shape 43"/>
          <p:cNvSpPr/>
          <p:nvPr/>
        </p:nvSpPr>
        <p:spPr>
          <a:xfrm>
            <a:off x="3150422" y="3766721"/>
            <a:ext cx="1238250" cy="238125"/>
          </a:xfrm>
          <a:prstGeom prst="roundRect">
            <a:avLst>
              <a:gd name="adj" fmla="val 48000"/>
            </a:avLst>
          </a:prstGeom>
          <a:solidFill>
            <a:srgbClr val="0B1F3A"/>
          </a:solidFill>
          <a:ln/>
        </p:spPr>
      </p:sp>
      <p:pic>
        <p:nvPicPr>
          <p:cNvPr id="4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6295" y="3833396"/>
            <a:ext cx="104775" cy="104775"/>
          </a:xfrm>
          <a:prstGeom prst="rect">
            <a:avLst/>
          </a:prstGeom>
        </p:spPr>
      </p:pic>
      <p:sp>
        <p:nvSpPr>
          <p:cNvPr id="49" name="Text 44"/>
          <p:cNvSpPr/>
          <p:nvPr/>
        </p:nvSpPr>
        <p:spPr>
          <a:xfrm>
            <a:off x="3388547" y="3833396"/>
            <a:ext cx="914400" cy="1047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Categorized result</a:t>
            </a:r>
            <a:endParaRPr lang="en-US" sz="800" dirty="0"/>
          </a:p>
        </p:txBody>
      </p:sp>
      <p:sp>
        <p:nvSpPr>
          <p:cNvPr id="50" name="Text 45"/>
          <p:cNvSpPr/>
          <p:nvPr/>
        </p:nvSpPr>
        <p:spPr>
          <a:xfrm>
            <a:off x="3150303" y="4081046"/>
            <a:ext cx="1943100" cy="2667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Supports quick comparison for budget, mid-range, and premium laptops.</a:t>
            </a:r>
            <a:endParaRPr lang="en-US" sz="700" dirty="0"/>
          </a:p>
        </p:txBody>
      </p:sp>
      <p:sp>
        <p:nvSpPr>
          <p:cNvPr id="51" name="Shape 46"/>
          <p:cNvSpPr/>
          <p:nvPr/>
        </p:nvSpPr>
        <p:spPr>
          <a:xfrm>
            <a:off x="3036122" y="4576346"/>
            <a:ext cx="1047750" cy="566738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47625" dir="5400000">
              <a:srgbClr val="0F172A">
                <a:alpha val="5000"/>
              </a:srgbClr>
            </a:outerShdw>
          </a:effectLst>
        </p:spPr>
      </p:sp>
      <p:sp>
        <p:nvSpPr>
          <p:cNvPr id="52" name="Text 47"/>
          <p:cNvSpPr/>
          <p:nvPr/>
        </p:nvSpPr>
        <p:spPr>
          <a:xfrm>
            <a:off x="3131372" y="4661595"/>
            <a:ext cx="857250" cy="952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3"/>
              </a:lnSpc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 with</a:t>
            </a:r>
            <a:endParaRPr lang="en-US" sz="600" dirty="0"/>
          </a:p>
        </p:txBody>
      </p:sp>
      <p:sp>
        <p:nvSpPr>
          <p:cNvPr id="53" name="Text 48"/>
          <p:cNvSpPr/>
          <p:nvPr/>
        </p:nvSpPr>
        <p:spPr>
          <a:xfrm>
            <a:off x="3131372" y="4793516"/>
            <a:ext cx="857250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</a:t>
            </a:r>
            <a:endParaRPr lang="en-US" sz="900" dirty="0"/>
          </a:p>
        </p:txBody>
      </p:sp>
      <p:sp>
        <p:nvSpPr>
          <p:cNvPr id="54" name="Shape 49"/>
          <p:cNvSpPr/>
          <p:nvPr/>
        </p:nvSpPr>
        <p:spPr>
          <a:xfrm>
            <a:off x="4159804" y="4576346"/>
            <a:ext cx="1047750" cy="566738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47625" dir="5400000">
              <a:srgbClr val="0F172A">
                <a:alpha val="5000"/>
              </a:srgbClr>
            </a:outerShdw>
          </a:effectLst>
        </p:spPr>
      </p:sp>
      <p:sp>
        <p:nvSpPr>
          <p:cNvPr id="55" name="Text 50"/>
          <p:cNvSpPr/>
          <p:nvPr/>
        </p:nvSpPr>
        <p:spPr>
          <a:xfrm>
            <a:off x="4255054" y="4661595"/>
            <a:ext cx="857250" cy="952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3"/>
              </a:lnSpc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pack</a:t>
            </a:r>
            <a:endParaRPr lang="en-US" sz="600" dirty="0"/>
          </a:p>
        </p:txBody>
      </p:sp>
      <p:sp>
        <p:nvSpPr>
          <p:cNvPr id="56" name="Text 51"/>
          <p:cNvSpPr/>
          <p:nvPr/>
        </p:nvSpPr>
        <p:spPr>
          <a:xfrm>
            <a:off x="4255054" y="4794945"/>
            <a:ext cx="857250" cy="2619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Streamlit + Joblib</a:t>
            </a:r>
            <a:endParaRPr lang="en-US" sz="900" dirty="0"/>
          </a:p>
        </p:txBody>
      </p:sp>
      <p:sp>
        <p:nvSpPr>
          <p:cNvPr id="57" name="Shape 52"/>
          <p:cNvSpPr/>
          <p:nvPr/>
        </p:nvSpPr>
        <p:spPr>
          <a:xfrm>
            <a:off x="5577929" y="1572369"/>
            <a:ext cx="3167063" cy="3267075"/>
          </a:xfrm>
          <a:prstGeom prst="roundRect">
            <a:avLst>
              <a:gd name="adj" fmla="val 14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85725" dir="5400000">
              <a:srgbClr val="0F172A">
                <a:alpha val="8000"/>
              </a:srgbClr>
            </a:outerShdw>
          </a:effectLst>
        </p:spPr>
      </p:sp>
      <p:sp>
        <p:nvSpPr>
          <p:cNvPr id="58" name="Text 53"/>
          <p:cNvSpPr/>
          <p:nvPr/>
        </p:nvSpPr>
        <p:spPr>
          <a:xfrm>
            <a:off x="5720804" y="1716941"/>
            <a:ext cx="2881313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900" b="1" dirty="0">
                <a:solidFill>
                  <a:srgbClr val="0F76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THE APP DOES</a:t>
            </a:r>
            <a:endParaRPr lang="en-US" sz="900" dirty="0"/>
          </a:p>
        </p:txBody>
      </p:sp>
      <p:sp>
        <p:nvSpPr>
          <p:cNvPr id="59" name="Text 54"/>
          <p:cNvSpPr/>
          <p:nvPr/>
        </p:nvSpPr>
        <p:spPr>
          <a:xfrm>
            <a:off x="5720804" y="1889819"/>
            <a:ext cx="2881313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 highlights</a:t>
            </a:r>
            <a:endParaRPr lang="en-US" sz="1500" dirty="0"/>
          </a:p>
        </p:txBody>
      </p:sp>
      <p:sp>
        <p:nvSpPr>
          <p:cNvPr id="60" name="Shape 55"/>
          <p:cNvSpPr/>
          <p:nvPr/>
        </p:nvSpPr>
        <p:spPr>
          <a:xfrm>
            <a:off x="5720804" y="2198697"/>
            <a:ext cx="2881313" cy="642938"/>
          </a:xfrm>
          <a:prstGeom prst="roundRect">
            <a:avLst>
              <a:gd name="adj" fmla="val 25284"/>
            </a:avLst>
          </a:prstGeom>
          <a:solidFill>
            <a:srgbClr val="F8FBFF"/>
          </a:solidFill>
          <a:ln/>
        </p:spPr>
      </p:sp>
      <p:sp>
        <p:nvSpPr>
          <p:cNvPr id="61" name="Shape 56"/>
          <p:cNvSpPr/>
          <p:nvPr/>
        </p:nvSpPr>
        <p:spPr>
          <a:xfrm>
            <a:off x="5807571" y="2295108"/>
            <a:ext cx="219075" cy="219075"/>
          </a:xfrm>
          <a:prstGeom prst="roundRect">
            <a:avLst>
              <a:gd name="adj" fmla="val 36295"/>
            </a:avLst>
          </a:prstGeom>
          <a:solidFill>
            <a:srgbClr val="D9E8F5"/>
          </a:solidFill>
          <a:ln/>
        </p:spPr>
      </p:sp>
      <p:pic>
        <p:nvPicPr>
          <p:cNvPr id="6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4721" y="2352258"/>
            <a:ext cx="104775" cy="104775"/>
          </a:xfrm>
          <a:prstGeom prst="rect">
            <a:avLst/>
          </a:prstGeom>
        </p:spPr>
      </p:pic>
      <p:sp>
        <p:nvSpPr>
          <p:cNvPr id="63" name="Text 57"/>
          <p:cNvSpPr/>
          <p:nvPr/>
        </p:nvSpPr>
        <p:spPr>
          <a:xfrm>
            <a:off x="6111329" y="2295376"/>
            <a:ext cx="2405062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2"/>
              </a:lnSpc>
              <a:spcAft>
                <a:spcPts val="225"/>
              </a:spcAft>
              <a:buNone/>
            </a:pPr>
            <a:r>
              <a:rPr lang="en-US" sz="900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Structured inputs</a:t>
            </a:r>
            <a:endParaRPr lang="en-US" sz="900" dirty="0"/>
          </a:p>
        </p:txBody>
      </p:sp>
      <p:sp>
        <p:nvSpPr>
          <p:cNvPr id="64" name="Text 58"/>
          <p:cNvSpPr/>
          <p:nvPr/>
        </p:nvSpPr>
        <p:spPr>
          <a:xfrm>
            <a:off x="6111329" y="2463284"/>
            <a:ext cx="2405062" cy="2809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Brand, RAM, storage, and CPU anchor the prediction.</a:t>
            </a:r>
            <a:endParaRPr lang="en-US" sz="800" dirty="0"/>
          </a:p>
        </p:txBody>
      </p:sp>
      <p:sp>
        <p:nvSpPr>
          <p:cNvPr id="65" name="Shape 59"/>
          <p:cNvSpPr/>
          <p:nvPr/>
        </p:nvSpPr>
        <p:spPr>
          <a:xfrm>
            <a:off x="5720804" y="2925038"/>
            <a:ext cx="2881313" cy="642938"/>
          </a:xfrm>
          <a:prstGeom prst="roundRect">
            <a:avLst>
              <a:gd name="adj" fmla="val 25284"/>
            </a:avLst>
          </a:prstGeom>
          <a:solidFill>
            <a:srgbClr val="EAF4FF"/>
          </a:solidFill>
          <a:ln/>
        </p:spPr>
      </p:sp>
      <p:sp>
        <p:nvSpPr>
          <p:cNvPr id="66" name="Shape 60"/>
          <p:cNvSpPr/>
          <p:nvPr/>
        </p:nvSpPr>
        <p:spPr>
          <a:xfrm>
            <a:off x="5807571" y="3021449"/>
            <a:ext cx="219075" cy="219075"/>
          </a:xfrm>
          <a:prstGeom prst="roundRect">
            <a:avLst>
              <a:gd name="adj" fmla="val 36295"/>
            </a:avLst>
          </a:prstGeom>
          <a:solidFill>
            <a:srgbClr val="14B8A6"/>
          </a:solidFill>
          <a:ln/>
        </p:spPr>
      </p:sp>
      <p:pic>
        <p:nvPicPr>
          <p:cNvPr id="6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4721" y="3078599"/>
            <a:ext cx="104775" cy="104775"/>
          </a:xfrm>
          <a:prstGeom prst="rect">
            <a:avLst/>
          </a:prstGeom>
        </p:spPr>
      </p:pic>
      <p:sp>
        <p:nvSpPr>
          <p:cNvPr id="68" name="Text 61"/>
          <p:cNvSpPr/>
          <p:nvPr/>
        </p:nvSpPr>
        <p:spPr>
          <a:xfrm>
            <a:off x="6111329" y="3021717"/>
            <a:ext cx="2405062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2"/>
              </a:lnSpc>
              <a:spcAft>
                <a:spcPts val="225"/>
              </a:spcAft>
              <a:buNone/>
            </a:pPr>
            <a:r>
              <a:rPr lang="en-US" sz="900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Expanded signals</a:t>
            </a:r>
            <a:endParaRPr lang="en-US" sz="900" dirty="0"/>
          </a:p>
        </p:txBody>
      </p:sp>
      <p:sp>
        <p:nvSpPr>
          <p:cNvPr id="69" name="Text 62"/>
          <p:cNvSpPr/>
          <p:nvPr/>
        </p:nvSpPr>
        <p:spPr>
          <a:xfrm>
            <a:off x="6111329" y="3189625"/>
            <a:ext cx="2405062" cy="2809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GPU, warranty, and display size refine the estimate.</a:t>
            </a:r>
            <a:endParaRPr lang="en-US" sz="800" dirty="0"/>
          </a:p>
        </p:txBody>
      </p:sp>
      <p:sp>
        <p:nvSpPr>
          <p:cNvPr id="70" name="Shape 63"/>
          <p:cNvSpPr/>
          <p:nvPr/>
        </p:nvSpPr>
        <p:spPr>
          <a:xfrm>
            <a:off x="5720804" y="3651379"/>
            <a:ext cx="2881313" cy="642938"/>
          </a:xfrm>
          <a:prstGeom prst="roundRect">
            <a:avLst>
              <a:gd name="adj" fmla="val 25284"/>
            </a:avLst>
          </a:prstGeom>
          <a:solidFill>
            <a:srgbClr val="F8FBFF"/>
          </a:solidFill>
          <a:ln/>
        </p:spPr>
      </p:sp>
      <p:sp>
        <p:nvSpPr>
          <p:cNvPr id="71" name="Shape 64"/>
          <p:cNvSpPr/>
          <p:nvPr/>
        </p:nvSpPr>
        <p:spPr>
          <a:xfrm>
            <a:off x="5807571" y="3747790"/>
            <a:ext cx="219075" cy="219075"/>
          </a:xfrm>
          <a:prstGeom prst="roundRect">
            <a:avLst>
              <a:gd name="adj" fmla="val 36295"/>
            </a:avLst>
          </a:prstGeom>
          <a:solidFill>
            <a:srgbClr val="D9E8F5"/>
          </a:solidFill>
          <a:ln/>
        </p:spPr>
      </p:sp>
      <p:pic>
        <p:nvPicPr>
          <p:cNvPr id="7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4721" y="3804940"/>
            <a:ext cx="104775" cy="104775"/>
          </a:xfrm>
          <a:prstGeom prst="rect">
            <a:avLst/>
          </a:prstGeom>
        </p:spPr>
      </p:pic>
      <p:sp>
        <p:nvSpPr>
          <p:cNvPr id="73" name="Text 65"/>
          <p:cNvSpPr/>
          <p:nvPr/>
        </p:nvSpPr>
        <p:spPr>
          <a:xfrm>
            <a:off x="6111329" y="3748058"/>
            <a:ext cx="2405062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2"/>
              </a:lnSpc>
              <a:spcAft>
                <a:spcPts val="225"/>
              </a:spcAft>
              <a:buNone/>
            </a:pPr>
            <a:r>
              <a:rPr lang="en-US" sz="900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Clear outputs</a:t>
            </a:r>
            <a:endParaRPr lang="en-US" sz="900" dirty="0"/>
          </a:p>
        </p:txBody>
      </p:sp>
      <p:sp>
        <p:nvSpPr>
          <p:cNvPr id="74" name="Text 66"/>
          <p:cNvSpPr/>
          <p:nvPr/>
        </p:nvSpPr>
        <p:spPr>
          <a:xfrm>
            <a:off x="6111329" y="3915966"/>
            <a:ext cx="2405062" cy="2809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Shows an estimated price and a simple price category.</a:t>
            </a:r>
            <a:endParaRPr lang="en-US" sz="800" dirty="0"/>
          </a:p>
        </p:txBody>
      </p:sp>
      <p:pic>
        <p:nvPicPr>
          <p:cNvPr id="7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21846" y="4553426"/>
            <a:ext cx="95250" cy="95250"/>
          </a:xfrm>
          <a:prstGeom prst="rect">
            <a:avLst/>
          </a:prstGeom>
        </p:spPr>
      </p:pic>
      <p:sp>
        <p:nvSpPr>
          <p:cNvPr id="76" name="Text 67"/>
          <p:cNvSpPr/>
          <p:nvPr/>
        </p:nvSpPr>
        <p:spPr>
          <a:xfrm>
            <a:off x="5863590" y="4548664"/>
            <a:ext cx="1119188" cy="1047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Fast demo-ready workflow</a:t>
            </a:r>
            <a:endParaRPr lang="en-US" sz="700" dirty="0"/>
          </a:p>
        </p:txBody>
      </p:sp>
      <p:sp>
        <p:nvSpPr>
          <p:cNvPr id="77" name="Text 68"/>
          <p:cNvSpPr/>
          <p:nvPr/>
        </p:nvSpPr>
        <p:spPr>
          <a:xfrm>
            <a:off x="7977962" y="4505801"/>
            <a:ext cx="623888" cy="190500"/>
          </a:xfrm>
          <a:prstGeom prst="roundRect">
            <a:avLst>
              <a:gd name="adj" fmla="val 60000"/>
            </a:avLst>
          </a:prstGeom>
          <a:solidFill>
            <a:srgbClr val="0B1F3A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43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ML web app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F"/>
          </a:solidFill>
          <a:ln/>
        </p:spPr>
      </p:sp>
      <p:sp>
        <p:nvSpPr>
          <p:cNvPr id="5" name="Text 3"/>
          <p:cNvSpPr/>
          <p:nvPr/>
        </p:nvSpPr>
        <p:spPr>
          <a:xfrm>
            <a:off x="419100" y="342900"/>
            <a:ext cx="8305800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 • ADVANTAGES • FUTURE SCOPE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9100" y="524828"/>
            <a:ext cx="5619750" cy="6381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Results, Advantages, and Future Scope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9100" y="1229439"/>
            <a:ext cx="5810250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1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balanced view of what the model already delivers and where it can grow next.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9100" y="1690449"/>
            <a:ext cx="4371975" cy="2328863"/>
          </a:xfrm>
          <a:prstGeom prst="roundRect">
            <a:avLst>
              <a:gd name="adj" fmla="val 27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85725" dir="5400000">
              <a:srgbClr val="0B1F3A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9600" y="1942148"/>
            <a:ext cx="257175" cy="257175"/>
          </a:xfrm>
          <a:prstGeom prst="roundRect">
            <a:avLst>
              <a:gd name="adj" fmla="val 26337"/>
            </a:avLst>
          </a:prstGeom>
          <a:solidFill>
            <a:srgbClr val="EAF4F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513" y="2004060"/>
            <a:ext cx="133350" cy="13335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34224" y="1891189"/>
            <a:ext cx="2228850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2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Current strengths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34224" y="2097881"/>
            <a:ext cx="2228850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225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Reliable output and a clean user experience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09600" y="2384584"/>
            <a:ext cx="3990975" cy="409575"/>
          </a:xfrm>
          <a:prstGeom prst="roundRect">
            <a:avLst>
              <a:gd name="adj" fmla="val 15576"/>
            </a:avLst>
          </a:prstGeom>
          <a:solidFill>
            <a:srgbClr val="F8FBFF"/>
          </a:solidFill>
          <a:ln/>
        </p:spPr>
      </p:sp>
      <p:sp>
        <p:nvSpPr>
          <p:cNvPr id="14" name="Shape 11"/>
          <p:cNvSpPr/>
          <p:nvPr/>
        </p:nvSpPr>
        <p:spPr>
          <a:xfrm>
            <a:off x="714375" y="2489359"/>
            <a:ext cx="200025" cy="200025"/>
          </a:xfrm>
          <a:prstGeom prst="roundRect">
            <a:avLst>
              <a:gd name="adj" fmla="val 38095"/>
            </a:avLst>
          </a:prstGeom>
          <a:solidFill>
            <a:srgbClr val="D9E8F5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536984"/>
            <a:ext cx="104775" cy="10477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99232" y="2488882"/>
            <a:ext cx="2381250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00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Accurate and fast laptop price prediction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09600" y="2879884"/>
            <a:ext cx="3990975" cy="409575"/>
          </a:xfrm>
          <a:prstGeom prst="roundRect">
            <a:avLst>
              <a:gd name="adj" fmla="val 15576"/>
            </a:avLst>
          </a:prstGeom>
          <a:solidFill>
            <a:srgbClr val="F8FBFF"/>
          </a:solidFill>
          <a:ln/>
        </p:spPr>
      </p:sp>
      <p:sp>
        <p:nvSpPr>
          <p:cNvPr id="18" name="Shape 14"/>
          <p:cNvSpPr/>
          <p:nvPr/>
        </p:nvSpPr>
        <p:spPr>
          <a:xfrm>
            <a:off x="714375" y="2984659"/>
            <a:ext cx="200025" cy="200025"/>
          </a:xfrm>
          <a:prstGeom prst="roundRect">
            <a:avLst>
              <a:gd name="adj" fmla="val 38095"/>
            </a:avLst>
          </a:prstGeom>
          <a:solidFill>
            <a:srgbClr val="D9E8F5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032284"/>
            <a:ext cx="104775" cy="10477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99649" y="2984183"/>
            <a:ext cx="2276475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00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User-friendly and AI-powered interface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09600" y="3390900"/>
            <a:ext cx="3990975" cy="447675"/>
          </a:xfrm>
          <a:prstGeom prst="roundRect">
            <a:avLst>
              <a:gd name="adj" fmla="val 13038"/>
            </a:avLst>
          </a:prstGeom>
          <a:solidFill>
            <a:srgbClr val="EAF4FF"/>
          </a:solidFill>
          <a:ln/>
        </p:spPr>
      </p:sp>
      <p:sp>
        <p:nvSpPr>
          <p:cNvPr id="22" name="Shape 17"/>
          <p:cNvSpPr/>
          <p:nvPr/>
        </p:nvSpPr>
        <p:spPr>
          <a:xfrm>
            <a:off x="723900" y="3505200"/>
            <a:ext cx="219075" cy="219075"/>
          </a:xfrm>
          <a:prstGeom prst="roundRect">
            <a:avLst>
              <a:gd name="adj" fmla="val 36295"/>
            </a:avLst>
          </a:prstGeom>
          <a:solidFill>
            <a:srgbClr val="FFFFFF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287" y="3557588"/>
            <a:ext cx="114300" cy="1143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19294" y="3531394"/>
            <a:ext cx="2795588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Strong foundation for decision support in laptop pricing.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5000625" y="1690449"/>
            <a:ext cx="3724275" cy="2328863"/>
          </a:xfrm>
          <a:prstGeom prst="roundRect">
            <a:avLst>
              <a:gd name="adj" fmla="val 27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85725" dir="5400000">
              <a:srgbClr val="0B1F3A">
                <a:alpha val="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5191125" y="1942148"/>
            <a:ext cx="257175" cy="257175"/>
          </a:xfrm>
          <a:prstGeom prst="roundRect">
            <a:avLst>
              <a:gd name="adj" fmla="val 26337"/>
            </a:avLst>
          </a:prstGeom>
          <a:solidFill>
            <a:srgbClr val="EAF4FF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3037" y="2004060"/>
            <a:ext cx="133350" cy="13335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514707" y="1891189"/>
            <a:ext cx="1824037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2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5514707" y="2097881"/>
            <a:ext cx="1824037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225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Expansion paths that increase utility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5191125" y="2384584"/>
            <a:ext cx="3343275" cy="409575"/>
          </a:xfrm>
          <a:prstGeom prst="roundRect">
            <a:avLst>
              <a:gd name="adj" fmla="val 15576"/>
            </a:avLst>
          </a:prstGeom>
          <a:solidFill>
            <a:srgbClr val="F8FBFF"/>
          </a:solidFill>
          <a:ln/>
        </p:spPr>
      </p:sp>
      <p:sp>
        <p:nvSpPr>
          <p:cNvPr id="31" name="Shape 24"/>
          <p:cNvSpPr/>
          <p:nvPr/>
        </p:nvSpPr>
        <p:spPr>
          <a:xfrm>
            <a:off x="5295900" y="2489359"/>
            <a:ext cx="200025" cy="200025"/>
          </a:xfrm>
          <a:prstGeom prst="roundRect">
            <a:avLst>
              <a:gd name="adj" fmla="val 38095"/>
            </a:avLst>
          </a:prstGeom>
          <a:solidFill>
            <a:srgbClr val="D9E8F5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3525" y="2536984"/>
            <a:ext cx="104775" cy="104775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581114" y="2488882"/>
            <a:ext cx="2076450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00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Cloud deployment for wider access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5191125" y="2879884"/>
            <a:ext cx="3343275" cy="409575"/>
          </a:xfrm>
          <a:prstGeom prst="roundRect">
            <a:avLst>
              <a:gd name="adj" fmla="val 15576"/>
            </a:avLst>
          </a:prstGeom>
          <a:solidFill>
            <a:srgbClr val="F8FBFF"/>
          </a:solidFill>
          <a:ln/>
        </p:spPr>
      </p:sp>
      <p:sp>
        <p:nvSpPr>
          <p:cNvPr id="35" name="Shape 27"/>
          <p:cNvSpPr/>
          <p:nvPr/>
        </p:nvSpPr>
        <p:spPr>
          <a:xfrm>
            <a:off x="5295900" y="2984659"/>
            <a:ext cx="200025" cy="200025"/>
          </a:xfrm>
          <a:prstGeom prst="roundRect">
            <a:avLst>
              <a:gd name="adj" fmla="val 38095"/>
            </a:avLst>
          </a:prstGeom>
          <a:solidFill>
            <a:srgbClr val="D9E8F5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43525" y="3032284"/>
            <a:ext cx="104775" cy="104775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5581799" y="2984183"/>
            <a:ext cx="2438400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00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Recommendations and smarter guidance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5191125" y="3374231"/>
            <a:ext cx="3343275" cy="561975"/>
          </a:xfrm>
          <a:prstGeom prst="roundRect">
            <a:avLst>
              <a:gd name="adj" fmla="val 33094"/>
            </a:avLst>
          </a:prstGeom>
          <a:solidFill>
            <a:srgbClr val="0B1F3A"/>
          </a:solidFill>
          <a:ln/>
        </p:spPr>
      </p:sp>
      <p:sp>
        <p:nvSpPr>
          <p:cNvPr id="39" name="Shape 30"/>
          <p:cNvSpPr/>
          <p:nvPr/>
        </p:nvSpPr>
        <p:spPr>
          <a:xfrm>
            <a:off x="5305425" y="3545681"/>
            <a:ext cx="219075" cy="219075"/>
          </a:xfrm>
          <a:prstGeom prst="roundRect">
            <a:avLst>
              <a:gd name="adj" fmla="val 36295"/>
            </a:avLst>
          </a:prstGeom>
          <a:solidFill>
            <a:srgbClr val="14B8A6"/>
          </a:solidFill>
          <a:ln/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57813" y="3598069"/>
            <a:ext cx="114300" cy="114300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5600700" y="3488531"/>
            <a:ext cx="2819400" cy="3333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Deep learning and live pricing can strengthen accuracy over time.</a:t>
            </a:r>
            <a:endParaRPr lang="en-US" sz="900" dirty="0"/>
          </a:p>
        </p:txBody>
      </p:sp>
      <p:sp>
        <p:nvSpPr>
          <p:cNvPr id="42" name="Shape 32"/>
          <p:cNvSpPr/>
          <p:nvPr/>
        </p:nvSpPr>
        <p:spPr>
          <a:xfrm>
            <a:off x="419100" y="4210050"/>
            <a:ext cx="8305800" cy="609600"/>
          </a:xfrm>
          <a:prstGeom prst="roundRect">
            <a:avLst>
              <a:gd name="adj" fmla="val 32813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71450" dist="76200" dir="5400000">
              <a:srgbClr val="0B1F3A">
                <a:alpha val="16000"/>
              </a:srgbClr>
            </a:outerShdw>
          </a:effectLst>
        </p:spPr>
      </p:sp>
      <p:sp>
        <p:nvSpPr>
          <p:cNvPr id="43" name="Shape 33"/>
          <p:cNvSpPr/>
          <p:nvPr/>
        </p:nvSpPr>
        <p:spPr>
          <a:xfrm>
            <a:off x="581025" y="4386263"/>
            <a:ext cx="257175" cy="257175"/>
          </a:xfrm>
          <a:prstGeom prst="roundRect">
            <a:avLst>
              <a:gd name="adj" fmla="val 29630"/>
            </a:avLst>
          </a:prstGeom>
          <a:solidFill>
            <a:srgbClr val="14B8A6"/>
          </a:solidFill>
          <a:ln/>
        </p:spPr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938" y="4448175"/>
            <a:ext cx="133350" cy="133350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924580" y="4348163"/>
            <a:ext cx="6662738" cy="1190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RECOMMENDATION</a:t>
            </a:r>
            <a:endParaRPr lang="en-US" sz="800" dirty="0"/>
          </a:p>
        </p:txBody>
      </p:sp>
      <p:sp>
        <p:nvSpPr>
          <p:cNvPr id="46" name="Text 35"/>
          <p:cNvSpPr/>
          <p:nvPr/>
        </p:nvSpPr>
        <p:spPr>
          <a:xfrm>
            <a:off x="924580" y="4496514"/>
            <a:ext cx="6662738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Bef>
                <a:spcPts val="225"/>
              </a:spcBef>
              <a:buNone/>
            </a:pPr>
            <a:r>
              <a:rPr lang="en-US" sz="1100" dirty="0">
                <a:solidFill>
                  <a:srgbClr val="EA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the current model as a dependable base, then add deep learning, live pricing, and cloud deployment.</a:t>
            </a:r>
            <a:endParaRPr lang="en-US" sz="1100" dirty="0"/>
          </a:p>
        </p:txBody>
      </p:sp>
      <p:sp>
        <p:nvSpPr>
          <p:cNvPr id="47" name="Shape 36"/>
          <p:cNvSpPr/>
          <p:nvPr/>
        </p:nvSpPr>
        <p:spPr>
          <a:xfrm>
            <a:off x="8220075" y="4343400"/>
            <a:ext cx="342900" cy="342900"/>
          </a:xfrm>
          <a:prstGeom prst="roundRect">
            <a:avLst>
              <a:gd name="adj" fmla="val 20370"/>
            </a:avLst>
          </a:prstGeom>
          <a:solidFill>
            <a:srgbClr val="FFFFFF"/>
          </a:solidFill>
          <a:ln/>
        </p:spPr>
      </p:sp>
      <p:pic>
        <p:nvPicPr>
          <p:cNvPr id="4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10562" y="4433888"/>
            <a:ext cx="161925" cy="1619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0" y="0"/>
            <a:ext cx="1524000" cy="5715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4107624" y="353377"/>
            <a:ext cx="928688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90"/>
              </a:lnSpc>
              <a:buNone/>
            </a:pPr>
            <a:r>
              <a:rPr lang="en-US" sz="900" b="1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759992" y="564714"/>
            <a:ext cx="1624012" cy="3286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1"/>
              </a:lnSpc>
              <a:buNone/>
            </a:pPr>
            <a:r>
              <a:rPr lang="en-US" sz="25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2000250" y="979884"/>
            <a:ext cx="5143500" cy="4048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94"/>
              </a:lnSpc>
              <a:buNone/>
            </a:pPr>
            <a:r>
              <a:rPr lang="en-US" sz="12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ML can estimate laptop prices effectively through thoughtful preprocessing and a strong Random Forest model.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571625" y="2297311"/>
            <a:ext cx="6000750" cy="1895475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85725" dir="5400000">
              <a:srgbClr val="0B1F3A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00225" y="2560915"/>
            <a:ext cx="257175" cy="257175"/>
          </a:xfrm>
          <a:prstGeom prst="roundRect">
            <a:avLst>
              <a:gd name="adj" fmla="val 26337"/>
            </a:avLst>
          </a:prstGeom>
          <a:solidFill>
            <a:srgbClr val="0B1F3A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2138" y="2622828"/>
            <a:ext cx="133350" cy="13335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141994" y="2498527"/>
            <a:ext cx="3071813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5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2141994" y="2732841"/>
            <a:ext cx="3071813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complete workflow from preprocessing to deployment.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1800225" y="3071456"/>
            <a:ext cx="57150" cy="5715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6" name="Text 13"/>
          <p:cNvSpPr/>
          <p:nvPr/>
        </p:nvSpPr>
        <p:spPr>
          <a:xfrm>
            <a:off x="1932890" y="3013115"/>
            <a:ext cx="2595563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1100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ML can estimate laptop prices effectively.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800225" y="3335774"/>
            <a:ext cx="57150" cy="5715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8" name="Text 15"/>
          <p:cNvSpPr/>
          <p:nvPr/>
        </p:nvSpPr>
        <p:spPr>
          <a:xfrm>
            <a:off x="1932950" y="3277434"/>
            <a:ext cx="3400425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1100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project combines preprocessing and deployment.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1800225" y="3600093"/>
            <a:ext cx="57150" cy="5715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0" name="Text 17"/>
          <p:cNvSpPr/>
          <p:nvPr/>
        </p:nvSpPr>
        <p:spPr>
          <a:xfrm>
            <a:off x="1933456" y="3541752"/>
            <a:ext cx="2700338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1100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Random Forest gave the strongest results.</a:t>
            </a:r>
            <a:endParaRPr lang="en-US" sz="11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225" y="3894892"/>
            <a:ext cx="114300" cy="1143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971883" y="3882986"/>
            <a:ext cx="196215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Ready for questions and discussion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6647911" y="3890129"/>
            <a:ext cx="695325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2026-07-02T03:22:36Z</dcterms:created>
  <dcterms:modified xsi:type="dcterms:W3CDTF">2026-07-02T03:22:36Z</dcterms:modified>
</cp:coreProperties>
</file>